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6" r:id="rId3"/>
    <p:sldId id="257" r:id="rId4"/>
    <p:sldId id="258" r:id="rId5"/>
    <p:sldId id="265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61"/>
  </p:normalViewPr>
  <p:slideViewPr>
    <p:cSldViewPr snapToGrid="0">
      <p:cViewPr varScale="1">
        <p:scale>
          <a:sx n="114" d="100"/>
          <a:sy n="114" d="100"/>
        </p:scale>
        <p:origin x="4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B9730-C9F6-4FF6-8B50-FCF72AE02E3F}" type="datetimeFigureOut">
              <a:rPr lang="en-IN" smtClean="0"/>
              <a:t>18/03/26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8823-AA34-41D4-A511-4AA621DE4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93CC-52ED-48C6-B4FB-A900E7E7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B921D-333D-50CF-2B5F-50703EA2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6255-C732-731A-6D5D-524C8FAC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5CA-C56E-4B79-B345-6747DECA69D6}" type="datetime1">
              <a:rPr lang="en-IN" smtClean="0"/>
              <a:t>18/03/26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70FFB-9FFF-C54D-CB92-DD7C76B1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BF83A-EEAB-290E-1520-6AC01A1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F3DE-B59B-D468-9D80-18B6849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FB1B-46A5-EF58-62EF-4EE19809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DC524-2CC0-2C3B-468E-C00BAB0B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752C-4AF0-4EE9-85A1-B21DBD4BB89D}" type="datetime1">
              <a:rPr lang="en-IN" smtClean="0"/>
              <a:t>18/03/26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8345-456C-AA05-A515-6BBBE70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0BAF-1C8D-4F88-EE18-B453A45B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5C42-DE78-53DD-136F-59150D2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87743-2B36-0276-8A03-14CA76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78D6-BCCB-1D2C-1000-2F87416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764F-6140-477F-A454-3F3D34240203}" type="datetime1">
              <a:rPr lang="en-IN" smtClean="0"/>
              <a:t>18/03/26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F681-E556-307C-D6ED-CAF356F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73AE-B717-C02D-3B1E-4E52D91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4996-C289-389A-E1BF-593A9F9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42F4-E278-4791-D11E-FFDB59B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02B1C-B5A0-2501-9653-E3C49406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0B07-51FA-8E42-5C99-789AAE47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3EA9-0FE1-428E-9BF1-E73FB25868B8}" type="datetime1">
              <a:rPr lang="en-IN" smtClean="0"/>
              <a:t>18/03/26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60E67-BCB4-0616-FF48-767B266E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220C6-19D8-2B09-1A2C-5F9BBEDB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9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3533-9A0C-90D5-9AE1-7255BA0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67A3E-DC49-CC48-9A4E-8117B9F7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AB0ED-88D6-23A0-B987-115360EAB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FF49D-ED16-AD66-B8C0-AFE8F7F50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457AC-A7E4-0AE6-ED14-69450663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65680-DD8E-F4B6-48D6-6204F84B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54DA-81CA-4C34-B4B9-ADBF13CF9A2F}" type="datetime1">
              <a:rPr lang="en-IN" smtClean="0"/>
              <a:t>18/03/26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9BC8F-3B36-BE43-ECE4-CB51B9A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264F5-9736-4798-3017-0475404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B4C6-CB9C-7951-EC6A-6DAAFA4E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F9303-4DB1-4B53-A9FC-C5CD38CA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AE5-D506-44E3-BB60-DF7895F20BA2}" type="datetime1">
              <a:rPr lang="en-IN" smtClean="0"/>
              <a:t>18/03/26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F2362-664B-0C06-E5D4-75987F63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88BF8-5054-9233-20DB-F8BEDF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2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FC4A0-0668-BC43-F708-FAFB42E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0259-960B-47C1-AF74-DCE1C1EA7164}" type="datetime1">
              <a:rPr lang="en-IN" smtClean="0"/>
              <a:t>18/03/26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A49F3-5429-910B-6CFD-64AADCD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F0B88-2976-620B-D8A7-6DE3CEB2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6615-122C-071B-9D07-CB565257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6A46-61CB-D8FA-5931-66EA08F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4B0D0-3954-D9F2-C44D-74CEF4DD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5148-B824-70C1-8C2E-8D337459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A713-0448-4F63-9C33-ED8C7BB35085}" type="datetime1">
              <a:rPr lang="en-IN" smtClean="0"/>
              <a:t>18/03/26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86C04-AE0C-1178-E2BF-1CB1186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E7EE5-815C-5D97-9429-D127432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4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379A-7620-BB0F-FDFF-5F9F916F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450FC-E7A1-427A-25DD-8CFD6E6B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C33BA-FB99-F801-ECB9-00DD7F2F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9DE2-603C-C4A3-DCDE-95501EBC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E8E8-5B35-4CF3-A0F2-3702D3D28B0C}" type="datetime1">
              <a:rPr lang="en-IN" smtClean="0"/>
              <a:t>18/03/26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3BAF-054D-5120-C069-20445382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A7752-D2C5-1C0F-0B4C-0B60089A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9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930B-7FC8-2C11-E7AC-DE70426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F5B1D-0F8B-9CDD-59CF-F7ADA2CE2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2378D-FF98-B657-2A71-2A5ADFD3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3E3C-862D-4834-9AEC-9FAE86CCA9D4}" type="datetime1">
              <a:rPr lang="en-IN" smtClean="0"/>
              <a:t>18/03/26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D4ECC-19A9-49D1-E9E2-0C3CBFD7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46F1-6445-82E9-D8EA-08312C82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A7C89-8CE2-5D35-3495-047CA3FC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9D066-3587-2D12-A5F5-A7C3F68C4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E5C5-6769-9126-2E0F-3FB93300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694A-4CD2-435A-9C19-498AACE9B7CE}" type="datetime1">
              <a:rPr lang="en-IN" smtClean="0"/>
              <a:t>18/03/26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B0E7-5DF9-11F1-3B40-72CF29CE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C463-1A33-4D06-A923-EEF0DFF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A1504-9D04-CA0B-0E4B-102DECC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0B7B-794B-93E1-8EA3-9BAD6704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337F-45D4-4479-7099-024B6F16E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840D-BDC6-494C-91E1-A142606BF42F}" type="datetime1">
              <a:rPr lang="en-IN" smtClean="0"/>
              <a:t>18/03/26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FC6F-C109-61BA-DCDD-A4026C5E7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14C3E-C350-8990-463F-4B8085837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E5121-AEBF-F1E8-8A0C-1B576693E7BA}"/>
              </a:ext>
            </a:extLst>
          </p:cNvPr>
          <p:cNvSpPr txBox="1"/>
          <p:nvPr/>
        </p:nvSpPr>
        <p:spPr>
          <a:xfrm>
            <a:off x="803117" y="133108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INNOVATE BHARAT HACKATHON 2026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  AI-generated content may be incorrect.">
            <a:extLst>
              <a:ext uri="{FF2B5EF4-FFF2-40B4-BE49-F238E27FC236}">
                <a16:creationId xmlns:a16="http://schemas.microsoft.com/office/drawing/2014/main" id="{02F6A545-7889-EE7D-B819-8344E089B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B5146A-EBD6-B1B2-C76F-054DAC334AA2}"/>
              </a:ext>
            </a:extLst>
          </p:cNvPr>
          <p:cNvSpPr txBox="1"/>
          <p:nvPr/>
        </p:nvSpPr>
        <p:spPr>
          <a:xfrm>
            <a:off x="2801211" y="2240121"/>
            <a:ext cx="6043803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TRACK: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Cybersecurity and Block Chain (CSBC)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EED24-D842-C3E8-2E3F-564DB8F6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  AI-generated content may be incorrect.">
            <a:extLst>
              <a:ext uri="{FF2B5EF4-FFF2-40B4-BE49-F238E27FC236}">
                <a16:creationId xmlns:a16="http://schemas.microsoft.com/office/drawing/2014/main" id="{9F52A71C-44A3-2F37-D0DE-AAB637FE9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4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78AD1F-4F7B-81CC-FEBE-4670D5A4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5ADC-EBCA-9F88-FC1E-077C36C3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/>
              <a:t>Attestr — Decentralized Media Authenticator</a:t>
            </a:r>
            <a:endParaRPr lang="en-US" sz="36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B70DC0-DEF5-82D2-84D3-5090BDF0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0B99616-C896-F10A-6A37-6619B94F8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1DB4322-2DFB-A6A7-E968-ECB11ECE4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5A62EA-7B6B-AB02-6DA3-10823E7C5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BCEA99-BAB3-D646-3C26-C6E0E542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  AI-generated content may be incorrect.">
            <a:extLst>
              <a:ext uri="{FF2B5EF4-FFF2-40B4-BE49-F238E27FC236}">
                <a16:creationId xmlns:a16="http://schemas.microsoft.com/office/drawing/2014/main" id="{472C507D-9272-1AE0-5DF9-F12A9CB20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C8108A-C924-47FE-071A-B6C1E0E3B382}"/>
              </a:ext>
            </a:extLst>
          </p:cNvPr>
          <p:cNvSpPr txBox="1"/>
          <p:nvPr/>
        </p:nvSpPr>
        <p:spPr>
          <a:xfrm>
            <a:off x="4329874" y="2597660"/>
            <a:ext cx="3529204" cy="831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/>
            <a:r>
              <a:rPr lang="en-US" dirty="0"/>
              <a:t>Team Name: Ctrl+Alt+Diablo</a:t>
            </a:r>
          </a:p>
          <a:p>
            <a:pPr algn="ctr"/>
            <a:r>
              <a:rPr lang="en-US" dirty="0"/>
              <a:t>Team ID: CSBC114  |  Track: Cybersecurity &amp; Blockchain  |  Panel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73917-5C1C-82AB-6142-EB886DC6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58B04-B12F-1D0A-121A-346F95B9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04C547-3367-766C-837A-A78935C9A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4B83-38EE-F5C8-A96F-D32BF29FD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009BB2-8F7B-D699-BD61-2727F0F20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  AI-generated content may be incorrect.">
            <a:extLst>
              <a:ext uri="{FF2B5EF4-FFF2-40B4-BE49-F238E27FC236}">
                <a16:creationId xmlns:a16="http://schemas.microsoft.com/office/drawing/2014/main" id="{3156E695-F4ED-A550-9B6B-36EEB0848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0F3D4-715A-9B70-76F8-0B1A410BD936}"/>
              </a:ext>
            </a:extLst>
          </p:cNvPr>
          <p:cNvSpPr txBox="1"/>
          <p:nvPr/>
        </p:nvSpPr>
        <p:spPr>
          <a:xfrm>
            <a:off x="1381321" y="368038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1A5C3A"/>
                </a:solidFill>
              </a:rPr>
              <a:t>Team Members:</a:t>
            </a:r>
          </a:p>
          <a:p>
            <a:pPr algn="l">
              <a:spcAft>
                <a:spcPts val="120"/>
              </a:spcAft>
            </a:pPr>
            <a:r>
              <a:rPr lang="en-US" sz="1300" dirty="0">
                <a:solidFill>
                  <a:srgbClr val="1C2D23"/>
                </a:solidFill>
              </a:rPr>
              <a:t>01  Yash Gadia</a:t>
            </a:r>
          </a:p>
          <a:p>
            <a:pPr algn="l">
              <a:spcAft>
                <a:spcPts val="120"/>
              </a:spcAft>
            </a:pPr>
            <a:r>
              <a:rPr lang="en-US" sz="1300" dirty="0">
                <a:solidFill>
                  <a:srgbClr val="1C2D23"/>
                </a:solidFill>
              </a:rPr>
              <a:t>02  Sweta Kumari</a:t>
            </a:r>
          </a:p>
          <a:p>
            <a:pPr algn="l">
              <a:spcAft>
                <a:spcPts val="120"/>
              </a:spcAft>
            </a:pPr>
            <a:r>
              <a:rPr lang="en-US" sz="1300" dirty="0">
                <a:solidFill>
                  <a:srgbClr val="1C2D23"/>
                </a:solidFill>
              </a:rPr>
              <a:t>03  Priyanshi Shrotriya</a:t>
            </a:r>
          </a:p>
          <a:p>
            <a:pPr algn="l">
              <a:spcAft>
                <a:spcPts val="120"/>
              </a:spcAft>
            </a:pPr>
            <a:r>
              <a:rPr lang="en-US" sz="1300" dirty="0">
                <a:solidFill>
                  <a:srgbClr val="1C2D23"/>
                </a:solidFill>
              </a:rPr>
              <a:t>04  Shreyansh Khemka</a:t>
            </a:r>
          </a:p>
        </p:txBody>
      </p: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7C1B8-6662-5502-4089-9DEA9AE8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6C71-BB9E-D39E-2E01-6947D286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3</a:t>
            </a:fld>
            <a:r>
              <a:rPr lang="en-IN" dirty="0"/>
              <a:t> W</a:t>
            </a:r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5F4F79DF-9767-E5A8-8AF3-F6335318A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57521C2D-0A12-0BE0-D27F-A64EC882E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33C47-0227-5277-1FFA-57C12A05F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EBEFD-2238-7C2F-DF28-B09B2A460C30}"/>
              </a:ext>
            </a:extLst>
          </p:cNvPr>
          <p:cNvSpPr txBox="1"/>
          <p:nvPr/>
        </p:nvSpPr>
        <p:spPr>
          <a:xfrm>
            <a:off x="4171901" y="367607"/>
            <a:ext cx="384414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Problem Statement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1F4149-52B1-AB05-4DBF-9B5E32861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9" name="Freeform: Shape 20">
              <a:extLst>
                <a:ext uri="{FF2B5EF4-FFF2-40B4-BE49-F238E27FC236}">
                  <a16:creationId xmlns:a16="http://schemas.microsoft.com/office/drawing/2014/main" id="{C4F8C0D9-4C65-56AE-4144-C9CD551DE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21">
              <a:extLst>
                <a:ext uri="{FF2B5EF4-FFF2-40B4-BE49-F238E27FC236}">
                  <a16:creationId xmlns:a16="http://schemas.microsoft.com/office/drawing/2014/main" id="{05478CF4-30DD-6522-6898-A1FBC9668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22">
              <a:extLst>
                <a:ext uri="{FF2B5EF4-FFF2-40B4-BE49-F238E27FC236}">
                  <a16:creationId xmlns:a16="http://schemas.microsoft.com/office/drawing/2014/main" id="{EC383C5F-8D6C-0C91-7F35-C78C3689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23">
              <a:extLst>
                <a:ext uri="{FF2B5EF4-FFF2-40B4-BE49-F238E27FC236}">
                  <a16:creationId xmlns:a16="http://schemas.microsoft.com/office/drawing/2014/main" id="{2AE493C0-FED7-A378-B4F2-739979AB1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close-up of a logo  AI-generated content may be incorrect.">
            <a:extLst>
              <a:ext uri="{FF2B5EF4-FFF2-40B4-BE49-F238E27FC236}">
                <a16:creationId xmlns:a16="http://schemas.microsoft.com/office/drawing/2014/main" id="{17FA03F5-F4BF-E184-6040-856156AE1C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8CA6072C-462B-7E98-EF93-005F337ED60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5E4D8B-36E6-F1FE-5E67-E097BFFEC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7" name="Freeform: Shape 26">
              <a:extLst>
                <a:ext uri="{FF2B5EF4-FFF2-40B4-BE49-F238E27FC236}">
                  <a16:creationId xmlns:a16="http://schemas.microsoft.com/office/drawing/2014/main" id="{194A745E-CF17-8242-AAC1-CFD911AD4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27">
              <a:extLst>
                <a:ext uri="{FF2B5EF4-FFF2-40B4-BE49-F238E27FC236}">
                  <a16:creationId xmlns:a16="http://schemas.microsoft.com/office/drawing/2014/main" id="{0B68D38B-937C-ADE3-3B5F-1BBD3AD71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036A3A8D-E06A-449C-6C90-F84B9E8A2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29">
              <a:extLst>
                <a:ext uri="{FF2B5EF4-FFF2-40B4-BE49-F238E27FC236}">
                  <a16:creationId xmlns:a16="http://schemas.microsoft.com/office/drawing/2014/main" id="{38AF1577-067B-B497-7804-C17FA4C22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Picture 20" descr="A hands holding a light bulb  AI-generated content may be incorrect.">
            <a:extLst>
              <a:ext uri="{FF2B5EF4-FFF2-40B4-BE49-F238E27FC236}">
                <a16:creationId xmlns:a16="http://schemas.microsoft.com/office/drawing/2014/main" id="{5C19E2A6-1141-C824-F2BF-D2BFCF09C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600" name="T600"/>
          <p:cNvSpPr txBox="1"/>
          <p:nvPr/>
        </p:nvSpPr>
        <p:spPr>
          <a:xfrm>
            <a:off x="3977640" y="960120"/>
            <a:ext cx="7543800" cy="3840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2000" b="1" dirty="0">
                <a:solidFill>
                  <a:srgbClr val="1A5C3A"/>
                </a:solidFill>
              </a:rPr>
              <a:t>Trust in Digital Media is Broken</a:t>
            </a:r>
          </a:p>
        </p:txBody>
      </p:sp>
      <p:sp>
        <p:nvSpPr>
          <p:cNvPr id="610" name="R610"/>
          <p:cNvSpPr/>
          <p:nvPr/>
        </p:nvSpPr>
        <p:spPr>
          <a:xfrm>
            <a:off x="1780849" y="1602085"/>
            <a:ext cx="3537558" cy="148725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11" name="T611"/>
          <p:cNvSpPr txBox="1"/>
          <p:nvPr/>
        </p:nvSpPr>
        <p:spPr>
          <a:xfrm>
            <a:off x="1780849" y="1624413"/>
            <a:ext cx="3537558" cy="817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96%</a:t>
            </a:r>
          </a:p>
        </p:txBody>
      </p:sp>
      <p:sp>
        <p:nvSpPr>
          <p:cNvPr id="612" name="T612"/>
          <p:cNvSpPr txBox="1"/>
          <p:nvPr/>
        </p:nvSpPr>
        <p:spPr>
          <a:xfrm>
            <a:off x="1780849" y="2462435"/>
            <a:ext cx="3537558" cy="594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C5E8D4"/>
                </a:solidFill>
              </a:rPr>
              <a:t>AI-generated
deepfakes</a:t>
            </a:r>
          </a:p>
        </p:txBody>
      </p:sp>
      <p:sp>
        <p:nvSpPr>
          <p:cNvPr id="613" name="R613"/>
          <p:cNvSpPr/>
          <p:nvPr/>
        </p:nvSpPr>
        <p:spPr>
          <a:xfrm>
            <a:off x="3680515" y="1602085"/>
            <a:ext cx="3537558" cy="148725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14" name="T614"/>
          <p:cNvSpPr txBox="1"/>
          <p:nvPr/>
        </p:nvSpPr>
        <p:spPr>
          <a:xfrm>
            <a:off x="3680515" y="1624413"/>
            <a:ext cx="3537558" cy="817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10×</a:t>
            </a:r>
          </a:p>
        </p:txBody>
      </p:sp>
      <p:sp>
        <p:nvSpPr>
          <p:cNvPr id="615" name="T615"/>
          <p:cNvSpPr txBox="1"/>
          <p:nvPr/>
        </p:nvSpPr>
        <p:spPr>
          <a:xfrm>
            <a:off x="3680515" y="2462435"/>
            <a:ext cx="3537558" cy="594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C5E8D4"/>
                </a:solidFill>
              </a:rPr>
              <a:t>YoY growth in
deepfakes</a:t>
            </a:r>
          </a:p>
        </p:txBody>
      </p:sp>
      <p:sp>
        <p:nvSpPr>
          <p:cNvPr id="616" name="R616"/>
          <p:cNvSpPr/>
          <p:nvPr/>
        </p:nvSpPr>
        <p:spPr>
          <a:xfrm>
            <a:off x="5580181" y="1602085"/>
            <a:ext cx="3537558" cy="148725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17" name="T617"/>
          <p:cNvSpPr txBox="1"/>
          <p:nvPr/>
        </p:nvSpPr>
        <p:spPr>
          <a:xfrm>
            <a:off x="5580181" y="1624413"/>
            <a:ext cx="3537558" cy="817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₹1,937Cr</a:t>
            </a:r>
          </a:p>
        </p:txBody>
      </p:sp>
      <p:sp>
        <p:nvSpPr>
          <p:cNvPr id="618" name="T618"/>
          <p:cNvSpPr txBox="1"/>
          <p:nvPr/>
        </p:nvSpPr>
        <p:spPr>
          <a:xfrm>
            <a:off x="5580181" y="2462435"/>
            <a:ext cx="3537558" cy="594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C5E8D4"/>
                </a:solidFill>
              </a:rPr>
              <a:t>India cyber fraud
FY 2025</a:t>
            </a:r>
          </a:p>
        </p:txBody>
      </p:sp>
      <p:sp>
        <p:nvSpPr>
          <p:cNvPr id="619" name="R619"/>
          <p:cNvSpPr/>
          <p:nvPr/>
        </p:nvSpPr>
        <p:spPr>
          <a:xfrm>
            <a:off x="7479847" y="1602085"/>
            <a:ext cx="3537558" cy="1487258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20" name="T620"/>
          <p:cNvSpPr txBox="1"/>
          <p:nvPr/>
        </p:nvSpPr>
        <p:spPr>
          <a:xfrm>
            <a:off x="7479847" y="1624413"/>
            <a:ext cx="3537558" cy="817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621" name="T621"/>
          <p:cNvSpPr txBox="1"/>
          <p:nvPr/>
        </p:nvSpPr>
        <p:spPr>
          <a:xfrm>
            <a:off x="7479847" y="2462435"/>
            <a:ext cx="3537558" cy="594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C5E8D4"/>
                </a:solidFill>
              </a:rPr>
              <a:t>Cost to create
a deepfake</a:t>
            </a:r>
          </a:p>
        </p:txBody>
      </p:sp>
      <p:sp>
        <p:nvSpPr>
          <p:cNvPr id="630" name="R630"/>
          <p:cNvSpPr/>
          <p:nvPr/>
        </p:nvSpPr>
        <p:spPr>
          <a:xfrm>
            <a:off x="1780849" y="3295997"/>
            <a:ext cx="9236556" cy="1572244"/>
          </a:xfrm>
          <a:prstGeom prst="rect">
            <a:avLst/>
          </a:prstGeom>
          <a:solidFill>
            <a:srgbClr val="EAF5EF"/>
          </a:solidFill>
          <a:ln w="15240">
            <a:solidFill>
              <a:srgbClr val="4CAF7D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631" name="R631"/>
          <p:cNvSpPr/>
          <p:nvPr/>
        </p:nvSpPr>
        <p:spPr>
          <a:xfrm>
            <a:off x="1780849" y="3295997"/>
            <a:ext cx="83663" cy="157224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32" name="M632"/>
          <p:cNvSpPr txBox="1"/>
          <p:nvPr/>
        </p:nvSpPr>
        <p:spPr>
          <a:xfrm>
            <a:off x="1918009" y="3375819"/>
            <a:ext cx="8898674" cy="14192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1C2D23"/>
                </a:solidFill>
              </a:rPr>
              <a:t>Journalists, lawyers &amp; investigators have no reliable way to prove media authenticity.</a:t>
            </a:r>
          </a:p>
          <a:p>
            <a:pPr algn="l">
              <a:buNone/>
            </a:pPr>
            <a:r>
              <a:rPr lang="en-US" sz="1200" dirty="0">
                <a:solidFill>
                  <a:srgbClr val="1C2D23"/>
                </a:solidFill>
              </a:rPr>
              <a:t>Detection methods keep failing — every better detector is defeated by a better generator.</a:t>
            </a:r>
          </a:p>
          <a:p>
            <a:pPr algn="l">
              <a:buNone/>
            </a:pPr>
            <a:r>
              <a:rPr lang="en-US" sz="1200" dirty="0">
                <a:solidFill>
                  <a:srgbClr val="1C2D23"/>
                </a:solidFill>
              </a:rPr>
              <a:t>WhatsApp forwards of fake images have caused mob violence. The Election Commission flagged deepfakes as a top threat for 2026.</a:t>
            </a:r>
          </a:p>
        </p:txBody>
      </p:sp>
      <p:sp>
        <p:nvSpPr>
          <p:cNvPr id="635" name="R635"/>
          <p:cNvSpPr/>
          <p:nvPr/>
        </p:nvSpPr>
        <p:spPr>
          <a:xfrm>
            <a:off x="1780850" y="5046271"/>
            <a:ext cx="9236556" cy="1019834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36" name="T636"/>
          <p:cNvSpPr txBox="1"/>
          <p:nvPr/>
        </p:nvSpPr>
        <p:spPr>
          <a:xfrm>
            <a:off x="1780850" y="5046271"/>
            <a:ext cx="9236556" cy="10198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problem isn't detecting fakes.  It's proving originals.</a:t>
            </a:r>
          </a:p>
        </p:txBody>
      </p:sp>
    </p:spTree>
    <p:extLst>
      <p:ext uri="{BB962C8B-B14F-4D97-AF65-F5344CB8AC3E}">
        <p14:creationId xmlns:p14="http://schemas.microsoft.com/office/powerpoint/2010/main" val="312015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E274-C627-E80A-CF40-A772916C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B5FD9-1F5F-5F84-88D9-A72F013C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1881C505-F0BD-25E8-FD3B-3295A5E31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617EDC7-637D-2183-3E37-C6BECCCACC9E}"/>
              </a:ext>
            </a:extLst>
          </p:cNvPr>
          <p:cNvSpPr txBox="1">
            <a:spLocks/>
          </p:cNvSpPr>
          <p:nvPr/>
        </p:nvSpPr>
        <p:spPr>
          <a:xfrm>
            <a:off x="-845635" y="-3025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E7E5F9-EB5C-2C3D-7B75-4D4DDE0494D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4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B683A6EE-89A4-6714-8511-0ED76F47C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7A484D-D11F-0B17-F111-F76FB0BE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39220-2E5E-9225-03C7-7D31CE8F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091E1-2002-C3EF-AD14-30B2F7142842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Proposed Solution/Idea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1F2F74-3A1F-1FC4-F4D1-EDAA57D68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0F18D0D6-2A36-D31D-D9D1-5A6DF35D5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DC2468D4-3664-2D33-9388-48C1EEA50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FD6F78CC-57EB-00F3-78A1-5BE0F030D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24639984-D9DD-7D44-7846-ED71B4598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B6E4A9D6-5D70-4F8A-0423-C0154E804D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B48891F8-A067-286D-FFC5-F283B06FA60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7BD122-45D1-5D24-39BA-6BA0631D3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A95D2445-22C7-5060-1017-16E390802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0492B89D-0873-485F-2316-F176A209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229C523E-42B0-8B62-1C8A-756271BAD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C36ADEC2-9229-4261-1704-0441B691B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2ADC4BFE-1AB8-DA1A-99B3-25B4C716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700" name="T700"/>
          <p:cNvSpPr txBox="1"/>
          <p:nvPr/>
        </p:nvSpPr>
        <p:spPr>
          <a:xfrm>
            <a:off x="2324100" y="983534"/>
            <a:ext cx="7543800" cy="3840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Attestr: Blockchain-Powered Media Verification</a:t>
            </a:r>
          </a:p>
        </p:txBody>
      </p:sp>
      <p:sp>
        <p:nvSpPr>
          <p:cNvPr id="701" name="T701"/>
          <p:cNvSpPr txBox="1"/>
          <p:nvPr/>
        </p:nvSpPr>
        <p:spPr>
          <a:xfrm>
            <a:off x="2324100" y="1376726"/>
            <a:ext cx="7543800" cy="2926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i="1" dirty="0">
                <a:solidFill>
                  <a:srgbClr val="3A5A47"/>
                </a:solidFill>
              </a:rPr>
              <a:t>Browser-based platform — tamper-proof cryptographic fingerprints on Ethereum. Files never leave your device.</a:t>
            </a:r>
          </a:p>
        </p:txBody>
      </p:sp>
      <p:sp>
        <p:nvSpPr>
          <p:cNvPr id="702" name="R702"/>
          <p:cNvSpPr/>
          <p:nvPr/>
        </p:nvSpPr>
        <p:spPr>
          <a:xfrm>
            <a:off x="2324100" y="1715054"/>
            <a:ext cx="320040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03" name="T703"/>
          <p:cNvSpPr txBox="1"/>
          <p:nvPr/>
        </p:nvSpPr>
        <p:spPr>
          <a:xfrm>
            <a:off x="2324100" y="1715054"/>
            <a:ext cx="3200400" cy="2560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HOW IT WORKS — 5-STEP PIPELINE</a:t>
            </a:r>
          </a:p>
        </p:txBody>
      </p:sp>
      <p:sp>
        <p:nvSpPr>
          <p:cNvPr id="710" name="R710"/>
          <p:cNvSpPr/>
          <p:nvPr/>
        </p:nvSpPr>
        <p:spPr>
          <a:xfrm>
            <a:off x="2324100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11" name="R711"/>
          <p:cNvSpPr/>
          <p:nvPr/>
        </p:nvSpPr>
        <p:spPr>
          <a:xfrm>
            <a:off x="2324100" y="2016806"/>
            <a:ext cx="1472184" cy="420624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12" name="T712"/>
          <p:cNvSpPr txBox="1"/>
          <p:nvPr/>
        </p:nvSpPr>
        <p:spPr>
          <a:xfrm>
            <a:off x="2324100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13" name="T713"/>
          <p:cNvSpPr txBox="1"/>
          <p:nvPr/>
        </p:nvSpPr>
        <p:spPr>
          <a:xfrm>
            <a:off x="2378964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CAPTURE</a:t>
            </a:r>
          </a:p>
        </p:txBody>
      </p:sp>
      <p:sp>
        <p:nvSpPr>
          <p:cNvPr id="714" name="T714"/>
          <p:cNvSpPr txBox="1"/>
          <p:nvPr/>
        </p:nvSpPr>
        <p:spPr>
          <a:xfrm>
            <a:off x="2378964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Upload or
camera input</a:t>
            </a:r>
          </a:p>
        </p:txBody>
      </p:sp>
      <p:sp>
        <p:nvSpPr>
          <p:cNvPr id="715" name="R715"/>
          <p:cNvSpPr/>
          <p:nvPr/>
        </p:nvSpPr>
        <p:spPr>
          <a:xfrm>
            <a:off x="3842004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16" name="R716"/>
          <p:cNvSpPr/>
          <p:nvPr/>
        </p:nvSpPr>
        <p:spPr>
          <a:xfrm>
            <a:off x="3842004" y="2016806"/>
            <a:ext cx="1472184" cy="420624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17" name="T717"/>
          <p:cNvSpPr txBox="1"/>
          <p:nvPr/>
        </p:nvSpPr>
        <p:spPr>
          <a:xfrm>
            <a:off x="3842004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18" name="T718"/>
          <p:cNvSpPr txBox="1"/>
          <p:nvPr/>
        </p:nvSpPr>
        <p:spPr>
          <a:xfrm>
            <a:off x="3896868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HASH</a:t>
            </a:r>
          </a:p>
        </p:txBody>
      </p:sp>
      <p:sp>
        <p:nvSpPr>
          <p:cNvPr id="719" name="T719"/>
          <p:cNvSpPr txBox="1"/>
          <p:nvPr/>
        </p:nvSpPr>
        <p:spPr>
          <a:xfrm>
            <a:off x="3896868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SHA-256 + dHash
client-side</a:t>
            </a:r>
          </a:p>
        </p:txBody>
      </p:sp>
      <p:sp>
        <p:nvSpPr>
          <p:cNvPr id="720" name="R720"/>
          <p:cNvSpPr/>
          <p:nvPr/>
        </p:nvSpPr>
        <p:spPr>
          <a:xfrm>
            <a:off x="5359908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21" name="R721"/>
          <p:cNvSpPr/>
          <p:nvPr/>
        </p:nvSpPr>
        <p:spPr>
          <a:xfrm>
            <a:off x="5359908" y="2016806"/>
            <a:ext cx="1472184" cy="42062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22" name="T722"/>
          <p:cNvSpPr txBox="1"/>
          <p:nvPr/>
        </p:nvSpPr>
        <p:spPr>
          <a:xfrm>
            <a:off x="5359908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723" name="T723"/>
          <p:cNvSpPr txBox="1"/>
          <p:nvPr/>
        </p:nvSpPr>
        <p:spPr>
          <a:xfrm>
            <a:off x="5414772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REGISTER</a:t>
            </a:r>
          </a:p>
        </p:txBody>
      </p:sp>
      <p:sp>
        <p:nvSpPr>
          <p:cNvPr id="724" name="T724"/>
          <p:cNvSpPr txBox="1"/>
          <p:nvPr/>
        </p:nvSpPr>
        <p:spPr>
          <a:xfrm>
            <a:off x="5414772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Ethereum smart
contract</a:t>
            </a:r>
          </a:p>
        </p:txBody>
      </p:sp>
      <p:sp>
        <p:nvSpPr>
          <p:cNvPr id="725" name="R725"/>
          <p:cNvSpPr/>
          <p:nvPr/>
        </p:nvSpPr>
        <p:spPr>
          <a:xfrm>
            <a:off x="6877812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26" name="R726"/>
          <p:cNvSpPr/>
          <p:nvPr/>
        </p:nvSpPr>
        <p:spPr>
          <a:xfrm>
            <a:off x="6877812" y="2016806"/>
            <a:ext cx="1472184" cy="42062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27" name="T727"/>
          <p:cNvSpPr txBox="1"/>
          <p:nvPr/>
        </p:nvSpPr>
        <p:spPr>
          <a:xfrm>
            <a:off x="6877812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28" name="T728"/>
          <p:cNvSpPr txBox="1"/>
          <p:nvPr/>
        </p:nvSpPr>
        <p:spPr>
          <a:xfrm>
            <a:off x="6932676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VERIFY</a:t>
            </a:r>
          </a:p>
        </p:txBody>
      </p:sp>
      <p:sp>
        <p:nvSpPr>
          <p:cNvPr id="729" name="T729"/>
          <p:cNvSpPr txBox="1"/>
          <p:nvPr/>
        </p:nvSpPr>
        <p:spPr>
          <a:xfrm>
            <a:off x="6932676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Exact + fuzzy
matching</a:t>
            </a:r>
          </a:p>
        </p:txBody>
      </p:sp>
      <p:sp>
        <p:nvSpPr>
          <p:cNvPr id="730" name="R730"/>
          <p:cNvSpPr/>
          <p:nvPr/>
        </p:nvSpPr>
        <p:spPr>
          <a:xfrm>
            <a:off x="8395716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31" name="R731"/>
          <p:cNvSpPr/>
          <p:nvPr/>
        </p:nvSpPr>
        <p:spPr>
          <a:xfrm>
            <a:off x="8395716" y="2016806"/>
            <a:ext cx="1472184" cy="420624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32" name="T732"/>
          <p:cNvSpPr txBox="1"/>
          <p:nvPr/>
        </p:nvSpPr>
        <p:spPr>
          <a:xfrm>
            <a:off x="8395716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33" name="T733"/>
          <p:cNvSpPr txBox="1"/>
          <p:nvPr/>
        </p:nvSpPr>
        <p:spPr>
          <a:xfrm>
            <a:off x="8450580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ANALYZE</a:t>
            </a:r>
          </a:p>
        </p:txBody>
      </p:sp>
      <p:sp>
        <p:nvSpPr>
          <p:cNvPr id="734" name="T734"/>
          <p:cNvSpPr txBox="1"/>
          <p:nvPr/>
        </p:nvSpPr>
        <p:spPr>
          <a:xfrm>
            <a:off x="8450580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ELA + EXIF
+ AI detection</a:t>
            </a:r>
          </a:p>
        </p:txBody>
      </p:sp>
      <p:sp>
        <p:nvSpPr>
          <p:cNvPr id="750" name="R750"/>
          <p:cNvSpPr/>
          <p:nvPr/>
        </p:nvSpPr>
        <p:spPr>
          <a:xfrm>
            <a:off x="2324100" y="3831775"/>
            <a:ext cx="7543800" cy="22402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51" name="T751"/>
          <p:cNvSpPr txBox="1"/>
          <p:nvPr/>
        </p:nvSpPr>
        <p:spPr>
          <a:xfrm>
            <a:off x="2461260" y="3891326"/>
            <a:ext cx="146304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90C8A0"/>
                </a:solidFill>
              </a:rPr>
              <a:t>Architecture</a:t>
            </a:r>
          </a:p>
        </p:txBody>
      </p:sp>
      <p:sp>
        <p:nvSpPr>
          <p:cNvPr id="752" name="M752"/>
          <p:cNvSpPr txBox="1"/>
          <p:nvPr/>
        </p:nvSpPr>
        <p:spPr>
          <a:xfrm>
            <a:off x="2461260" y="4279392"/>
            <a:ext cx="7287768" cy="1737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CLIENT (Upload / SHA-256 / dHash / ELA / EXIF)   →   SERVER (POST /register · POST /verify · GET /chain)   →   CHAIN (Ethereum Sepolia · Immutable · Public)</a:t>
            </a:r>
          </a:p>
          <a:p>
            <a:pPr algn="l">
              <a:buNone/>
            </a:pPr>
            <a:r>
              <a:rPr lang="en-US" sz="1020" i="1" dirty="0">
                <a:solidFill>
                  <a:srgbClr val="7DC89A"/>
                </a:solidFill>
              </a:rPr>
              <a:t>Smart Contract: 0x37FCD33D5FF07cfa3A75D27B4ec4cF09e458dfac   |   Live: https://attestr-app.vercel.app</a:t>
            </a:r>
          </a:p>
        </p:txBody>
      </p:sp>
    </p:spTree>
    <p:extLst>
      <p:ext uri="{BB962C8B-B14F-4D97-AF65-F5344CB8AC3E}">
        <p14:creationId xmlns:p14="http://schemas.microsoft.com/office/powerpoint/2010/main" val="339260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D30F-10BD-514E-7C2C-CABF8E09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D5E0-65C4-2D79-C240-6F35388C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4B8DF-4E89-6DB0-A717-08CB3CAD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8B5C77F5-55DB-01EC-2CEB-E7D257000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6B15E6-66C7-8C8F-55E9-2270E947AB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46C2E2F-CC94-B1E1-450B-FEC3325BA65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5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54B53E9A-85E5-FD12-E25C-7D74D0CCB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7E2899-E97A-85D0-444F-D069DC5C0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8DAE5-57C9-1062-38D4-F5D8E2592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604CEB-AD09-ADB6-0862-0ADFFB82A844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Innovation &amp; Uniqueness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ADCBCC-8F45-37BD-DEE5-29084AD9D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AABF1DC9-A94A-61AB-5C74-C79B5CA90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03C9544-ED11-2412-FD24-285C67687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5EDEE767-488B-1174-0772-46A5D123F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C4ECB3AC-B40D-3ED9-C7E7-76A4D0B6F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A0DA2E88-67C5-2FCA-3DE1-4F730134B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7511144-1C96-849F-67EF-9F96E909845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FD04D1-E8CD-C58A-C032-845D9E8DC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8F56B301-92D9-0147-A14C-E6A5F95B5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F63F0C9E-F01D-E8A5-E3D2-6E57765F1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4A8062F2-6D93-3D81-617D-BAD884637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A7400B5D-5F6F-9D51-3A29-BE50D9A10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2EE08080-4909-1A84-D501-9A12BB0A0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800" name="T800"/>
          <p:cNvSpPr txBox="1"/>
          <p:nvPr/>
        </p:nvSpPr>
        <p:spPr>
          <a:xfrm>
            <a:off x="3977640" y="960120"/>
            <a:ext cx="754380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What Exists vs. What We Built</a:t>
            </a:r>
          </a:p>
        </p:txBody>
      </p:sp>
      <p:sp>
        <p:nvSpPr>
          <p:cNvPr id="801" name="R801"/>
          <p:cNvSpPr/>
          <p:nvPr/>
        </p:nvSpPr>
        <p:spPr>
          <a:xfrm>
            <a:off x="2314849" y="1437351"/>
            <a:ext cx="7543800" cy="329184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02" name="T802"/>
          <p:cNvSpPr txBox="1"/>
          <p:nvPr/>
        </p:nvSpPr>
        <p:spPr>
          <a:xfrm>
            <a:off x="2369713" y="1437351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803" name="T803"/>
          <p:cNvSpPr txBox="1"/>
          <p:nvPr/>
        </p:nvSpPr>
        <p:spPr>
          <a:xfrm>
            <a:off x="4701433" y="1437351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Blockchain?</a:t>
            </a:r>
          </a:p>
        </p:txBody>
      </p:sp>
      <p:sp>
        <p:nvSpPr>
          <p:cNvPr id="804" name="T804"/>
          <p:cNvSpPr txBox="1"/>
          <p:nvPr/>
        </p:nvSpPr>
        <p:spPr>
          <a:xfrm>
            <a:off x="6530233" y="1437351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Key Limitation</a:t>
            </a:r>
          </a:p>
        </p:txBody>
      </p:sp>
      <p:sp>
        <p:nvSpPr>
          <p:cNvPr id="810" name="R810"/>
          <p:cNvSpPr/>
          <p:nvPr/>
        </p:nvSpPr>
        <p:spPr>
          <a:xfrm>
            <a:off x="2314849" y="1766535"/>
            <a:ext cx="7543800" cy="329184"/>
          </a:xfrm>
          <a:prstGeom prst="rect">
            <a:avLst/>
          </a:prstGeom>
          <a:solidFill>
            <a:srgbClr val="F0F7F3"/>
          </a:solidFill>
          <a:ln w="508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11" name="T811"/>
          <p:cNvSpPr txBox="1"/>
          <p:nvPr/>
        </p:nvSpPr>
        <p:spPr>
          <a:xfrm>
            <a:off x="2369713" y="1766535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C2PA (Adobe, MS, Google)</a:t>
            </a:r>
          </a:p>
        </p:txBody>
      </p:sp>
      <p:sp>
        <p:nvSpPr>
          <p:cNvPr id="812" name="T812"/>
          <p:cNvSpPr txBox="1"/>
          <p:nvPr/>
        </p:nvSpPr>
        <p:spPr>
          <a:xfrm>
            <a:off x="4701433" y="1766535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No — PKI only</a:t>
            </a:r>
          </a:p>
        </p:txBody>
      </p:sp>
      <p:sp>
        <p:nvSpPr>
          <p:cNvPr id="813" name="T813"/>
          <p:cNvSpPr txBox="1"/>
          <p:nvPr/>
        </p:nvSpPr>
        <p:spPr>
          <a:xfrm>
            <a:off x="6530233" y="1766535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Metadata stripped by screenshots</a:t>
            </a:r>
          </a:p>
        </p:txBody>
      </p:sp>
      <p:sp>
        <p:nvSpPr>
          <p:cNvPr id="815" name="R815"/>
          <p:cNvSpPr/>
          <p:nvPr/>
        </p:nvSpPr>
        <p:spPr>
          <a:xfrm>
            <a:off x="2314849" y="2095719"/>
            <a:ext cx="7543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16" name="T816"/>
          <p:cNvSpPr txBox="1"/>
          <p:nvPr/>
        </p:nvSpPr>
        <p:spPr>
          <a:xfrm>
            <a:off x="2369713" y="2095719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Truepic ($26M funded)</a:t>
            </a:r>
          </a:p>
        </p:txBody>
      </p:sp>
      <p:sp>
        <p:nvSpPr>
          <p:cNvPr id="817" name="T817"/>
          <p:cNvSpPr txBox="1"/>
          <p:nvPr/>
        </p:nvSpPr>
        <p:spPr>
          <a:xfrm>
            <a:off x="4701433" y="2095719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Abandoned</a:t>
            </a:r>
          </a:p>
        </p:txBody>
      </p:sp>
      <p:sp>
        <p:nvSpPr>
          <p:cNvPr id="818" name="T818"/>
          <p:cNvSpPr txBox="1"/>
          <p:nvPr/>
        </p:nvSpPr>
        <p:spPr>
          <a:xfrm>
            <a:off x="6530233" y="2095719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Requires special hardware</a:t>
            </a:r>
          </a:p>
        </p:txBody>
      </p:sp>
      <p:sp>
        <p:nvSpPr>
          <p:cNvPr id="820" name="R820"/>
          <p:cNvSpPr/>
          <p:nvPr/>
        </p:nvSpPr>
        <p:spPr>
          <a:xfrm>
            <a:off x="2314849" y="2424903"/>
            <a:ext cx="7543800" cy="329184"/>
          </a:xfrm>
          <a:prstGeom prst="rect">
            <a:avLst/>
          </a:prstGeom>
          <a:solidFill>
            <a:srgbClr val="F0F7F3"/>
          </a:solidFill>
          <a:ln w="508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21" name="T821"/>
          <p:cNvSpPr txBox="1"/>
          <p:nvPr/>
        </p:nvSpPr>
        <p:spPr>
          <a:xfrm>
            <a:off x="2369713" y="2424903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OpenOrigins ($4.5M)</a:t>
            </a:r>
          </a:p>
        </p:txBody>
      </p:sp>
      <p:sp>
        <p:nvSpPr>
          <p:cNvPr id="822" name="T822"/>
          <p:cNvSpPr txBox="1"/>
          <p:nvPr/>
        </p:nvSpPr>
        <p:spPr>
          <a:xfrm>
            <a:off x="4701433" y="2424903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Permissioned chain</a:t>
            </a:r>
          </a:p>
        </p:txBody>
      </p:sp>
      <p:sp>
        <p:nvSpPr>
          <p:cNvPr id="823" name="T823"/>
          <p:cNvSpPr txBox="1"/>
          <p:nvPr/>
        </p:nvSpPr>
        <p:spPr>
          <a:xfrm>
            <a:off x="6530233" y="2424903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Not truly decentralized</a:t>
            </a:r>
          </a:p>
        </p:txBody>
      </p:sp>
      <p:sp>
        <p:nvSpPr>
          <p:cNvPr id="825" name="R825"/>
          <p:cNvSpPr/>
          <p:nvPr/>
        </p:nvSpPr>
        <p:spPr>
          <a:xfrm>
            <a:off x="2314849" y="2754087"/>
            <a:ext cx="7543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26" name="T826"/>
          <p:cNvSpPr txBox="1"/>
          <p:nvPr/>
        </p:nvSpPr>
        <p:spPr>
          <a:xfrm>
            <a:off x="2369713" y="2754087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Reality Defender (YC)</a:t>
            </a:r>
          </a:p>
        </p:txBody>
      </p:sp>
      <p:sp>
        <p:nvSpPr>
          <p:cNvPr id="827" name="T827"/>
          <p:cNvSpPr txBox="1"/>
          <p:nvPr/>
        </p:nvSpPr>
        <p:spPr>
          <a:xfrm>
            <a:off x="4701433" y="2754087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No</a:t>
            </a:r>
          </a:p>
        </p:txBody>
      </p:sp>
      <p:sp>
        <p:nvSpPr>
          <p:cNvPr id="828" name="T828"/>
          <p:cNvSpPr txBox="1"/>
          <p:nvPr/>
        </p:nvSpPr>
        <p:spPr>
          <a:xfrm>
            <a:off x="6530233" y="2754087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Detection only, no provenance</a:t>
            </a:r>
          </a:p>
        </p:txBody>
      </p:sp>
      <p:sp>
        <p:nvSpPr>
          <p:cNvPr id="840" name="R840"/>
          <p:cNvSpPr/>
          <p:nvPr/>
        </p:nvSpPr>
        <p:spPr>
          <a:xfrm>
            <a:off x="2314849" y="3083271"/>
            <a:ext cx="7543800" cy="329184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41" name="T841"/>
          <p:cNvSpPr txBox="1"/>
          <p:nvPr/>
        </p:nvSpPr>
        <p:spPr>
          <a:xfrm>
            <a:off x="2369713" y="3083271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▶  Attestr (Ours)</a:t>
            </a:r>
          </a:p>
        </p:txBody>
      </p:sp>
      <p:sp>
        <p:nvSpPr>
          <p:cNvPr id="842" name="T842"/>
          <p:cNvSpPr txBox="1"/>
          <p:nvPr/>
        </p:nvSpPr>
        <p:spPr>
          <a:xfrm>
            <a:off x="4701433" y="3083271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✓ Public Ethereum</a:t>
            </a:r>
          </a:p>
        </p:txBody>
      </p:sp>
      <p:sp>
        <p:nvSpPr>
          <p:cNvPr id="843" name="T843"/>
          <p:cNvSpPr txBox="1"/>
          <p:nvPr/>
        </p:nvSpPr>
        <p:spPr>
          <a:xfrm>
            <a:off x="6530233" y="3083271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None of the above ✓</a:t>
            </a:r>
          </a:p>
        </p:txBody>
      </p:sp>
      <p:sp>
        <p:nvSpPr>
          <p:cNvPr id="850" name="R850"/>
          <p:cNvSpPr/>
          <p:nvPr/>
        </p:nvSpPr>
        <p:spPr>
          <a:xfrm>
            <a:off x="2314849" y="3558759"/>
            <a:ext cx="1188720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51" name="T851"/>
          <p:cNvSpPr txBox="1"/>
          <p:nvPr/>
        </p:nvSpPr>
        <p:spPr>
          <a:xfrm>
            <a:off x="2314849" y="3558759"/>
            <a:ext cx="1188720" cy="2560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OUR EDGE</a:t>
            </a:r>
          </a:p>
        </p:txBody>
      </p:sp>
      <p:sp>
        <p:nvSpPr>
          <p:cNvPr id="860" name="R860"/>
          <p:cNvSpPr/>
          <p:nvPr/>
        </p:nvSpPr>
        <p:spPr>
          <a:xfrm>
            <a:off x="2314849" y="3869655"/>
            <a:ext cx="1844802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61" name="R861"/>
          <p:cNvSpPr/>
          <p:nvPr/>
        </p:nvSpPr>
        <p:spPr>
          <a:xfrm>
            <a:off x="2314849" y="3869655"/>
            <a:ext cx="59436" cy="222199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62" name="T862"/>
          <p:cNvSpPr txBox="1"/>
          <p:nvPr/>
        </p:nvSpPr>
        <p:spPr>
          <a:xfrm>
            <a:off x="2433721" y="3933663"/>
            <a:ext cx="168021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Zero Data Exposure</a:t>
            </a:r>
          </a:p>
        </p:txBody>
      </p:sp>
      <p:sp>
        <p:nvSpPr>
          <p:cNvPr id="863" name="M863"/>
          <p:cNvSpPr txBox="1"/>
          <p:nvPr/>
        </p:nvSpPr>
        <p:spPr>
          <a:xfrm>
            <a:off x="2433721" y="4281135"/>
            <a:ext cx="1652778" cy="171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1C2D23"/>
                </a:solidFill>
              </a:rPr>
              <a:t>Client-side hashing via Web Workers — nothing ever leaves your device</a:t>
            </a:r>
          </a:p>
        </p:txBody>
      </p:sp>
      <p:sp>
        <p:nvSpPr>
          <p:cNvPr id="864" name="R864"/>
          <p:cNvSpPr/>
          <p:nvPr/>
        </p:nvSpPr>
        <p:spPr>
          <a:xfrm>
            <a:off x="4214515" y="3869655"/>
            <a:ext cx="1844802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65" name="R865"/>
          <p:cNvSpPr/>
          <p:nvPr/>
        </p:nvSpPr>
        <p:spPr>
          <a:xfrm>
            <a:off x="4214515" y="3869655"/>
            <a:ext cx="59436" cy="222199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66" name="T866"/>
          <p:cNvSpPr txBox="1"/>
          <p:nvPr/>
        </p:nvSpPr>
        <p:spPr>
          <a:xfrm>
            <a:off x="4333387" y="3933663"/>
            <a:ext cx="168021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fontScale="92500"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Screenshot-Proof Hash</a:t>
            </a:r>
          </a:p>
        </p:txBody>
      </p:sp>
      <p:sp>
        <p:nvSpPr>
          <p:cNvPr id="867" name="M867"/>
          <p:cNvSpPr txBox="1"/>
          <p:nvPr/>
        </p:nvSpPr>
        <p:spPr>
          <a:xfrm>
            <a:off x="4333387" y="4281135"/>
            <a:ext cx="1652778" cy="171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1C2D23"/>
                </a:solidFill>
              </a:rPr>
              <a:t>Perceptual dHash survives screenshots, compression &amp; re-uploads</a:t>
            </a:r>
          </a:p>
        </p:txBody>
      </p:sp>
      <p:sp>
        <p:nvSpPr>
          <p:cNvPr id="868" name="R868"/>
          <p:cNvSpPr/>
          <p:nvPr/>
        </p:nvSpPr>
        <p:spPr>
          <a:xfrm>
            <a:off x="6114181" y="3869655"/>
            <a:ext cx="1844802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69" name="R869"/>
          <p:cNvSpPr/>
          <p:nvPr/>
        </p:nvSpPr>
        <p:spPr>
          <a:xfrm>
            <a:off x="6114181" y="3869655"/>
            <a:ext cx="59436" cy="22219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70" name="T870"/>
          <p:cNvSpPr txBox="1"/>
          <p:nvPr/>
        </p:nvSpPr>
        <p:spPr>
          <a:xfrm>
            <a:off x="6233053" y="3933663"/>
            <a:ext cx="168021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Truly Decentralized</a:t>
            </a:r>
          </a:p>
        </p:txBody>
      </p:sp>
      <p:sp>
        <p:nvSpPr>
          <p:cNvPr id="871" name="M871"/>
          <p:cNvSpPr txBox="1"/>
          <p:nvPr/>
        </p:nvSpPr>
        <p:spPr>
          <a:xfrm>
            <a:off x="6233053" y="4281135"/>
            <a:ext cx="1652778" cy="171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1C2D23"/>
                </a:solidFill>
              </a:rPr>
              <a:t>Public Ethereum — not a permissioned chain controlled by one entity</a:t>
            </a:r>
          </a:p>
        </p:txBody>
      </p:sp>
      <p:sp>
        <p:nvSpPr>
          <p:cNvPr id="872" name="R872"/>
          <p:cNvSpPr/>
          <p:nvPr/>
        </p:nvSpPr>
        <p:spPr>
          <a:xfrm>
            <a:off x="8013847" y="3869655"/>
            <a:ext cx="1844802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73" name="R873"/>
          <p:cNvSpPr/>
          <p:nvPr/>
        </p:nvSpPr>
        <p:spPr>
          <a:xfrm>
            <a:off x="8013847" y="3869655"/>
            <a:ext cx="59436" cy="2221992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74" name="T874"/>
          <p:cNvSpPr txBox="1"/>
          <p:nvPr/>
        </p:nvSpPr>
        <p:spPr>
          <a:xfrm>
            <a:off x="8132719" y="3933663"/>
            <a:ext cx="168021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All-In-One Forensics</a:t>
            </a:r>
          </a:p>
        </p:txBody>
      </p:sp>
      <p:sp>
        <p:nvSpPr>
          <p:cNvPr id="875" name="M875"/>
          <p:cNvSpPr txBox="1"/>
          <p:nvPr/>
        </p:nvSpPr>
        <p:spPr>
          <a:xfrm>
            <a:off x="8132719" y="4281135"/>
            <a:ext cx="1652778" cy="171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1C2D23"/>
                </a:solidFill>
              </a:rPr>
              <a:t>ELA + EXIF + AI in one platform; $0 cost today, 93% gross margins</a:t>
            </a:r>
          </a:p>
        </p:txBody>
      </p:sp>
    </p:spTree>
    <p:extLst>
      <p:ext uri="{BB962C8B-B14F-4D97-AF65-F5344CB8AC3E}">
        <p14:creationId xmlns:p14="http://schemas.microsoft.com/office/powerpoint/2010/main" val="30237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8FB9-46E2-C60C-92BF-22CDB5C9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F5E-09E4-89B4-39EB-7556D28E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7143B-C875-A4A1-E58E-319DCF09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BBB029A8-98E0-4E57-80DD-6D36B04F4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70DF77-BE14-CE10-0B50-6191FB44B6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ED8712E-6DF1-09B5-902D-9AF580CECD5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6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D9DEF76F-CBFB-1ABB-0620-66518FD34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9EC2AC-5B66-5A6F-B955-120E873F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774A5-3983-068B-F32E-8D20AF02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3535A-4715-6023-8F45-4697755BE93E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Technology Used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005E67-F019-51A5-34EF-25901F9E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DEF9EA64-B8A6-6D34-CDF3-C252EA242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F5E976EA-8480-23C8-DDB2-E4E959D99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09BC0516-0B22-65CF-2A7B-5B7B325E4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982F7E74-CC9C-4776-1C91-75D14D576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A1F267AE-7039-7AAA-610C-B932FCC04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67304840-A971-834E-F7D8-973EE14637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CD3C47-FB45-34FD-67BB-14947EAE6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623FF4FB-E123-1FBD-1E9C-66CFCE366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79BD904-6C3E-E11F-7070-EEC4F0408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48D44DE1-C7FC-D524-9BC8-37489EF04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939ECBD1-5700-7DF0-71AC-4187AAAA2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6CCD3785-85D3-171F-7854-C97494395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900" name="T900"/>
          <p:cNvSpPr txBox="1"/>
          <p:nvPr/>
        </p:nvSpPr>
        <p:spPr>
          <a:xfrm>
            <a:off x="2368997" y="995768"/>
            <a:ext cx="754380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Built With Modern, Open Tools</a:t>
            </a:r>
          </a:p>
        </p:txBody>
      </p:sp>
      <p:sp>
        <p:nvSpPr>
          <p:cNvPr id="910" name="R910"/>
          <p:cNvSpPr/>
          <p:nvPr/>
        </p:nvSpPr>
        <p:spPr>
          <a:xfrm>
            <a:off x="2368997" y="1425536"/>
            <a:ext cx="2453640" cy="36576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911" name="T911"/>
          <p:cNvSpPr txBox="1"/>
          <p:nvPr/>
        </p:nvSpPr>
        <p:spPr>
          <a:xfrm>
            <a:off x="2368997" y="1425536"/>
            <a:ext cx="245364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12" name="R912"/>
          <p:cNvSpPr/>
          <p:nvPr/>
        </p:nvSpPr>
        <p:spPr>
          <a:xfrm>
            <a:off x="2368997" y="1791296"/>
            <a:ext cx="2453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913" name="M913"/>
          <p:cNvSpPr txBox="1"/>
          <p:nvPr/>
        </p:nvSpPr>
        <p:spPr>
          <a:xfrm>
            <a:off x="2487869" y="1919312"/>
            <a:ext cx="2252472" cy="376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React 19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Vite 8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Tailwind CSS 4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Framer Motion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Three.js / React Three Fiber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React Router 7</a:t>
            </a:r>
          </a:p>
        </p:txBody>
      </p:sp>
      <p:sp>
        <p:nvSpPr>
          <p:cNvPr id="930" name="R930"/>
          <p:cNvSpPr/>
          <p:nvPr/>
        </p:nvSpPr>
        <p:spPr>
          <a:xfrm>
            <a:off x="4914077" y="1425536"/>
            <a:ext cx="2453640" cy="365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931" name="T931"/>
          <p:cNvSpPr txBox="1"/>
          <p:nvPr/>
        </p:nvSpPr>
        <p:spPr>
          <a:xfrm>
            <a:off x="4914077" y="1425536"/>
            <a:ext cx="245364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</a:rPr>
              <a:t>BACKEND &amp; BLOCKCHAIN</a:t>
            </a:r>
          </a:p>
        </p:txBody>
      </p:sp>
      <p:sp>
        <p:nvSpPr>
          <p:cNvPr id="932" name="R932"/>
          <p:cNvSpPr/>
          <p:nvPr/>
        </p:nvSpPr>
        <p:spPr>
          <a:xfrm>
            <a:off x="4914077" y="1791296"/>
            <a:ext cx="2453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933" name="M933"/>
          <p:cNvSpPr txBox="1"/>
          <p:nvPr/>
        </p:nvSpPr>
        <p:spPr>
          <a:xfrm>
            <a:off x="5032949" y="1919312"/>
            <a:ext cx="2252472" cy="376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Node.js + Express 5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Vercel Serverless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Solidity 0.8.24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Ethereum Sepolia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ethers.js 6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Firebase Auth (Google OAuth)</a:t>
            </a:r>
          </a:p>
        </p:txBody>
      </p:sp>
      <p:sp>
        <p:nvSpPr>
          <p:cNvPr id="950" name="R950"/>
          <p:cNvSpPr/>
          <p:nvPr/>
        </p:nvSpPr>
        <p:spPr>
          <a:xfrm>
            <a:off x="7459157" y="1425536"/>
            <a:ext cx="24536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951" name="T951"/>
          <p:cNvSpPr txBox="1"/>
          <p:nvPr/>
        </p:nvSpPr>
        <p:spPr>
          <a:xfrm>
            <a:off x="7459157" y="1425536"/>
            <a:ext cx="245364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</a:rPr>
              <a:t>CRYPTOGRAPHY &amp; AI</a:t>
            </a:r>
          </a:p>
        </p:txBody>
      </p:sp>
      <p:sp>
        <p:nvSpPr>
          <p:cNvPr id="952" name="R952"/>
          <p:cNvSpPr/>
          <p:nvPr/>
        </p:nvSpPr>
        <p:spPr>
          <a:xfrm>
            <a:off x="7459157" y="1791296"/>
            <a:ext cx="2453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953" name="M953"/>
          <p:cNvSpPr txBox="1"/>
          <p:nvPr/>
        </p:nvSpPr>
        <p:spPr>
          <a:xfrm>
            <a:off x="7578029" y="1919312"/>
            <a:ext cx="2252472" cy="376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SubtleCrypto API (SHA-256)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256-bit Perceptual dHash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Web Workers (off-thread)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Canvas-based ELA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HuggingFace ML (ViT, ResNet)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7 Forensic Heuristics</a:t>
            </a:r>
          </a:p>
        </p:txBody>
      </p:sp>
      <p:sp>
        <p:nvSpPr>
          <p:cNvPr id="970" name="R970"/>
          <p:cNvSpPr/>
          <p:nvPr/>
        </p:nvSpPr>
        <p:spPr>
          <a:xfrm>
            <a:off x="2368997" y="5796368"/>
            <a:ext cx="7543800" cy="274320"/>
          </a:xfrm>
          <a:prstGeom prst="rect">
            <a:avLst/>
          </a:prstGeom>
          <a:solidFill>
            <a:srgbClr val="E5F2EA"/>
          </a:solidFill>
          <a:ln w="6350">
            <a:solidFill>
              <a:srgbClr val="4CAF7D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971" name="T971"/>
          <p:cNvSpPr txBox="1"/>
          <p:nvPr/>
        </p:nvSpPr>
        <p:spPr>
          <a:xfrm>
            <a:off x="2478725" y="5796368"/>
            <a:ext cx="7379208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i="1" dirty="0">
                <a:solidFill>
                  <a:srgbClr val="1A5C3A"/>
                </a:solidFill>
              </a:rPr>
              <a:t>Smart Contract: 0x37FCD33D5FF07cfa3A75D27B4ec4cF09e458dfac  (Ethereum Sepolia)</a:t>
            </a:r>
          </a:p>
        </p:txBody>
      </p:sp>
    </p:spTree>
    <p:extLst>
      <p:ext uri="{BB962C8B-B14F-4D97-AF65-F5344CB8AC3E}">
        <p14:creationId xmlns:p14="http://schemas.microsoft.com/office/powerpoint/2010/main" val="211267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22F5-6D7D-4227-85D7-16B67B05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00E9-734C-CAA0-17FE-17689353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22EA4-B1F6-34D3-5626-416BFEC9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3CC82AE6-9D2A-2D88-F491-8203880CC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065C8CE-28F6-0C6B-338C-C3B5B298F9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49D56B7-D53C-011E-2F3F-D5AD326BEFE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7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E64D2BE9-CE4D-7481-3EE6-3ABA5F7F9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D1D958-30C5-BFBB-4704-8AA5760A3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8B59F7-E15D-2790-BD01-92549C8BD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C28E2-5885-1FB9-C717-8250B26F451A}"/>
              </a:ext>
            </a:extLst>
          </p:cNvPr>
          <p:cNvSpPr txBox="1"/>
          <p:nvPr/>
        </p:nvSpPr>
        <p:spPr>
          <a:xfrm>
            <a:off x="3436884" y="367607"/>
            <a:ext cx="488598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Features &amp; Functionalities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18811A-4F8E-2836-EF90-7221277EF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E2B4672F-F1C3-2CFE-B3D1-6509F2ED9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CC37C06D-DFF9-BC83-B432-49605D4FF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5CA88AC1-9155-569A-E5BF-6E8E1C824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7AA4055F-FF3F-644A-E624-DD0C52567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58A6E750-84CF-ABE6-EFC6-FB0465DF5B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75C741BE-C4AB-E613-A2EB-9F3D7D425B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E57456-7DB2-D9E0-3DC1-538B620C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6ADB1A64-E449-E424-9C0D-1AF876BDF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52BB634-DB1D-6842-4281-027496EA2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BBD6908A-5E17-7977-6487-318FB3DA3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01A557D7-B7C4-85B2-1FB2-6EA251876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6F93DC9F-B0C2-003C-927D-41C7D7DB0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1000" name="T1000"/>
          <p:cNvSpPr txBox="1"/>
          <p:nvPr/>
        </p:nvSpPr>
        <p:spPr>
          <a:xfrm>
            <a:off x="2537948" y="995768"/>
            <a:ext cx="754380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What Attestr Can Do</a:t>
            </a:r>
          </a:p>
        </p:txBody>
      </p:sp>
      <p:sp>
        <p:nvSpPr>
          <p:cNvPr id="1010" name="R1010"/>
          <p:cNvSpPr/>
          <p:nvPr/>
        </p:nvSpPr>
        <p:spPr>
          <a:xfrm>
            <a:off x="2537948" y="1425536"/>
            <a:ext cx="3707892" cy="4169664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011" name="R1011"/>
          <p:cNvSpPr/>
          <p:nvPr/>
        </p:nvSpPr>
        <p:spPr>
          <a:xfrm>
            <a:off x="2537948" y="1425536"/>
            <a:ext cx="59436" cy="4169664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012" name="T1012"/>
          <p:cNvSpPr txBox="1"/>
          <p:nvPr/>
        </p:nvSpPr>
        <p:spPr>
          <a:xfrm>
            <a:off x="2656820" y="1489544"/>
            <a:ext cx="354330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Core &amp; Forensics</a:t>
            </a:r>
          </a:p>
        </p:txBody>
      </p:sp>
      <p:sp>
        <p:nvSpPr>
          <p:cNvPr id="1013" name="M1013"/>
          <p:cNvSpPr txBox="1"/>
          <p:nvPr/>
        </p:nvSpPr>
        <p:spPr>
          <a:xfrm>
            <a:off x="2656820" y="1837016"/>
            <a:ext cx="3515868" cy="36667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Client-side SHA-256 + 256-bit perceptual hashing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Ethereum registration with Etherscan receipts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Instant verification — exact + fuzzy matching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Pre-registration duplicate detection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Error Level Analysis (ELA) — adjustable 1×–30×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EXIF metadata extraction + anomaly flagging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AI detection: ML (ViT, ResNet) + 7 heuristic signals</a:t>
            </a:r>
          </a:p>
        </p:txBody>
      </p:sp>
      <p:sp>
        <p:nvSpPr>
          <p:cNvPr id="1030" name="R1030"/>
          <p:cNvSpPr/>
          <p:nvPr/>
        </p:nvSpPr>
        <p:spPr>
          <a:xfrm>
            <a:off x="6373856" y="1425536"/>
            <a:ext cx="3707892" cy="4169664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031" name="R1031"/>
          <p:cNvSpPr/>
          <p:nvPr/>
        </p:nvSpPr>
        <p:spPr>
          <a:xfrm>
            <a:off x="6373856" y="1425536"/>
            <a:ext cx="59436" cy="41696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032" name="T1032"/>
          <p:cNvSpPr txBox="1"/>
          <p:nvPr/>
        </p:nvSpPr>
        <p:spPr>
          <a:xfrm>
            <a:off x="6492728" y="1489544"/>
            <a:ext cx="354330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Platform &amp; Integrations</a:t>
            </a:r>
          </a:p>
        </p:txBody>
      </p:sp>
      <p:sp>
        <p:nvSpPr>
          <p:cNvPr id="1033" name="M1033"/>
          <p:cNvSpPr txBox="1"/>
          <p:nvPr/>
        </p:nvSpPr>
        <p:spPr>
          <a:xfrm>
            <a:off x="6492728" y="1837016"/>
            <a:ext cx="3515868" cy="36667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Google OAuth authentication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My Media dashboard (personal history)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Public Activity feed (anonymized)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Interactive API docs with live "Try it"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Chrome extension — right-click to verify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Desktop agent — watched folder auto-register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Separate desktop + mobile UIs; 3D visualizations</a:t>
            </a:r>
          </a:p>
        </p:txBody>
      </p:sp>
      <p:sp>
        <p:nvSpPr>
          <p:cNvPr id="1050" name="R1050"/>
          <p:cNvSpPr/>
          <p:nvPr/>
        </p:nvSpPr>
        <p:spPr>
          <a:xfrm>
            <a:off x="2537948" y="5668352"/>
            <a:ext cx="7543800" cy="402336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051" name="T1051"/>
          <p:cNvSpPr txBox="1"/>
          <p:nvPr/>
        </p:nvSpPr>
        <p:spPr>
          <a:xfrm>
            <a:off x="2537948" y="5668352"/>
            <a:ext cx="7543800" cy="4023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50" b="1" dirty="0">
                <a:solidFill>
                  <a:srgbClr val="FFFFFF"/>
                </a:solidFill>
              </a:rPr>
              <a:t>🌐  Live: https://attestr-app.vercel.app  —  Everything above is deployed &amp; fully functional</a:t>
            </a:r>
          </a:p>
        </p:txBody>
      </p:sp>
    </p:spTree>
    <p:extLst>
      <p:ext uri="{BB962C8B-B14F-4D97-AF65-F5344CB8AC3E}">
        <p14:creationId xmlns:p14="http://schemas.microsoft.com/office/powerpoint/2010/main" val="282943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8961-0E57-6CF4-6A2E-6E3844CE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F5FA-4F07-3415-25E3-C29F21EF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8901C-CFCA-5956-3989-DB48B37B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808F960A-289C-591A-BEEA-F0564F0CC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7CB260-476E-D58E-6C85-22C5CE0DCD3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CA2909C-E433-498A-659E-70C518245CC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8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42675280-1BA9-C78D-15BD-C603CC170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E0B5CAE-859F-2E56-77C1-EEF4164D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2D47E-A735-DAB0-DB53-2B7823EA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126AD-F670-1E1A-0DD5-7E5F8DE779B0}"/>
              </a:ext>
            </a:extLst>
          </p:cNvPr>
          <p:cNvSpPr txBox="1"/>
          <p:nvPr/>
        </p:nvSpPr>
        <p:spPr>
          <a:xfrm>
            <a:off x="3436883" y="367607"/>
            <a:ext cx="5776065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Implementation Plan / Roadmap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08DE12-9223-0B45-7844-C8442188B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C6B389A5-57A1-5BDD-19D5-935489A75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D47C928B-E00F-1E52-C717-07A5AAF02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7CA94AD0-2C13-149F-27C4-C1BF48D92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81292ABA-6799-0521-BC93-F47A7A14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52C4D73F-1345-3CA9-C6C5-8928CA105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6788EA6-29B6-4A1B-6379-A0B95808548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4AE98E-B324-7FD5-5724-C47113E8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93A260AE-0C5C-4CC3-70C4-9D528AE9D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F824AC28-C4B1-F6B1-6402-A3E6B78AF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1E9727E5-F04D-5242-381E-4D642EBCF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E7132A91-975B-8373-609C-1F7963E8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62CCCF5C-DE08-D2D7-6A05-49C3680CB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1100" name="T1100"/>
          <p:cNvSpPr txBox="1"/>
          <p:nvPr/>
        </p:nvSpPr>
        <p:spPr>
          <a:xfrm>
            <a:off x="3977640" y="960120"/>
            <a:ext cx="754380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What We've Built &amp; What's Next</a:t>
            </a:r>
          </a:p>
        </p:txBody>
      </p:sp>
      <p:sp>
        <p:nvSpPr>
          <p:cNvPr id="1110" name="R1110"/>
          <p:cNvSpPr/>
          <p:nvPr/>
        </p:nvSpPr>
        <p:spPr>
          <a:xfrm>
            <a:off x="2632304" y="1419886"/>
            <a:ext cx="1554480" cy="2743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11" name="T1111"/>
          <p:cNvSpPr txBox="1"/>
          <p:nvPr/>
        </p:nvSpPr>
        <p:spPr>
          <a:xfrm>
            <a:off x="2632304" y="1419886"/>
            <a:ext cx="155448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✓  COMPLETE</a:t>
            </a:r>
          </a:p>
        </p:txBody>
      </p:sp>
      <p:sp>
        <p:nvSpPr>
          <p:cNvPr id="1112" name="R1112"/>
          <p:cNvSpPr/>
          <p:nvPr/>
        </p:nvSpPr>
        <p:spPr>
          <a:xfrm>
            <a:off x="2632304" y="1730782"/>
            <a:ext cx="7543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113" name="R1113"/>
          <p:cNvSpPr/>
          <p:nvPr/>
        </p:nvSpPr>
        <p:spPr>
          <a:xfrm>
            <a:off x="2632304" y="1730782"/>
            <a:ext cx="50292" cy="14173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14" name="M1114"/>
          <p:cNvSpPr txBox="1"/>
          <p:nvPr/>
        </p:nvSpPr>
        <p:spPr>
          <a:xfrm>
            <a:off x="2787752" y="1785646"/>
            <a:ext cx="7324344" cy="13075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Core blockchain engine, client-side hashing (Workers, SubtleCrypto, dHash)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Register &amp; Verify with duplicate detection; Ethereum Sepolia smart contract deployed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Forensic suite (ELA, EXIF, AI detection); Firebase auth + mobile UI + 3D visualizations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Public API + Chrome extension + Desktop agent; Vercel production deployment</a:t>
            </a:r>
          </a:p>
        </p:txBody>
      </p:sp>
      <p:sp>
        <p:nvSpPr>
          <p:cNvPr id="1130" name="R1130"/>
          <p:cNvSpPr/>
          <p:nvPr/>
        </p:nvSpPr>
        <p:spPr>
          <a:xfrm>
            <a:off x="2632304" y="3294406"/>
            <a:ext cx="1554480" cy="27432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31" name="T1131"/>
          <p:cNvSpPr txBox="1"/>
          <p:nvPr/>
        </p:nvSpPr>
        <p:spPr>
          <a:xfrm>
            <a:off x="2632304" y="3294406"/>
            <a:ext cx="155448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→  UPCOMING</a:t>
            </a:r>
          </a:p>
        </p:txBody>
      </p:sp>
      <p:sp>
        <p:nvSpPr>
          <p:cNvPr id="1132" name="R1132"/>
          <p:cNvSpPr/>
          <p:nvPr/>
        </p:nvSpPr>
        <p:spPr>
          <a:xfrm>
            <a:off x="2632304" y="3605302"/>
            <a:ext cx="7543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133" name="R1133"/>
          <p:cNvSpPr/>
          <p:nvPr/>
        </p:nvSpPr>
        <p:spPr>
          <a:xfrm>
            <a:off x="2632304" y="3605302"/>
            <a:ext cx="50292" cy="7132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34" name="M1134"/>
          <p:cNvSpPr txBox="1"/>
          <p:nvPr/>
        </p:nvSpPr>
        <p:spPr>
          <a:xfrm>
            <a:off x="2787752" y="3660166"/>
            <a:ext cx="7324344" cy="6035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Polygon mainnet ($0.001/registration); Custom-trained AI detection model; Device fingerprinting + GPS anchoring</a:t>
            </a:r>
          </a:p>
        </p:txBody>
      </p:sp>
      <p:sp>
        <p:nvSpPr>
          <p:cNvPr id="1150" name="R1150"/>
          <p:cNvSpPr/>
          <p:nvPr/>
        </p:nvSpPr>
        <p:spPr>
          <a:xfrm>
            <a:off x="2632304" y="4464838"/>
            <a:ext cx="155448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51" name="T1151"/>
          <p:cNvSpPr txBox="1"/>
          <p:nvPr/>
        </p:nvSpPr>
        <p:spPr>
          <a:xfrm>
            <a:off x="2632304" y="4464838"/>
            <a:ext cx="155448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○  PLANNED</a:t>
            </a:r>
          </a:p>
        </p:txBody>
      </p:sp>
      <p:sp>
        <p:nvSpPr>
          <p:cNvPr id="1152" name="R1152"/>
          <p:cNvSpPr/>
          <p:nvPr/>
        </p:nvSpPr>
        <p:spPr>
          <a:xfrm>
            <a:off x="2632304" y="4775734"/>
            <a:ext cx="7543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153" name="R1153"/>
          <p:cNvSpPr/>
          <p:nvPr/>
        </p:nvSpPr>
        <p:spPr>
          <a:xfrm>
            <a:off x="2632304" y="4775734"/>
            <a:ext cx="50292" cy="7132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54" name="M1154"/>
          <p:cNvSpPr txBox="1"/>
          <p:nvPr/>
        </p:nvSpPr>
        <p:spPr>
          <a:xfrm>
            <a:off x="2787752" y="4830598"/>
            <a:ext cx="7324344" cy="6035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Verified org accounts; CMS plugins (WordPress, Drupal); Mobile capture app (iOS/Android); Web monitoring</a:t>
            </a:r>
          </a:p>
        </p:txBody>
      </p:sp>
      <p:sp>
        <p:nvSpPr>
          <p:cNvPr id="1170" name="R1170"/>
          <p:cNvSpPr/>
          <p:nvPr/>
        </p:nvSpPr>
        <p:spPr>
          <a:xfrm>
            <a:off x="2632304" y="5635270"/>
            <a:ext cx="7543800" cy="420624"/>
          </a:xfrm>
          <a:prstGeom prst="rect">
            <a:avLst/>
          </a:prstGeom>
          <a:solidFill>
            <a:srgbClr val="E5F2EA"/>
          </a:solidFill>
          <a:ln w="6350">
            <a:solidFill>
              <a:srgbClr val="4CAF7D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171" name="T1171"/>
          <p:cNvSpPr txBox="1"/>
          <p:nvPr/>
        </p:nvSpPr>
        <p:spPr>
          <a:xfrm>
            <a:off x="2742032" y="5635270"/>
            <a:ext cx="7379208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20" i="1" dirty="0">
                <a:solidFill>
                  <a:srgbClr val="1A5C3A"/>
                </a:solidFill>
              </a:rPr>
              <a:t>Website: attestr-app.vercel.app   |   Etherscan: sepolia.etherscan.io/address/0x37FCD...dfac</a:t>
            </a:r>
          </a:p>
        </p:txBody>
      </p:sp>
    </p:spTree>
    <p:extLst>
      <p:ext uri="{BB962C8B-B14F-4D97-AF65-F5344CB8AC3E}">
        <p14:creationId xmlns:p14="http://schemas.microsoft.com/office/powerpoint/2010/main" val="112258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78AD1F-4F7B-81CC-FEBE-4670D5A4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5ADC-EBCA-9F88-FC1E-077C36C3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/>
              <a:t>Attestr — Proving integrity in the age of deepfakes.</a:t>
            </a:r>
            <a:endParaRPr lang="en-US" sz="36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B70DC0-DEF5-82D2-84D3-5090BDF0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0B99616-C896-F10A-6A37-6619B94F8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1DB4322-2DFB-A6A7-E968-ECB11ECE4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5A62EA-7B6B-AB02-6DA3-10823E7C5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BCEA99-BAB3-D646-3C26-C6E0E542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  AI-generated content may be incorrect.">
            <a:extLst>
              <a:ext uri="{FF2B5EF4-FFF2-40B4-BE49-F238E27FC236}">
                <a16:creationId xmlns:a16="http://schemas.microsoft.com/office/drawing/2014/main" id="{472C507D-9272-1AE0-5DF9-F12A9CB20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C8108A-C924-47FE-071A-B6C1E0E3B382}"/>
              </a:ext>
            </a:extLst>
          </p:cNvPr>
          <p:cNvSpPr txBox="1"/>
          <p:nvPr/>
        </p:nvSpPr>
        <p:spPr>
          <a:xfrm>
            <a:off x="4329874" y="2597660"/>
            <a:ext cx="3529204" cy="831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US" dirty="0"/>
              <a:t>Thank You — Team Ctrl+Alt+Diablo</a:t>
            </a:r>
          </a:p>
          <a:p>
            <a:pPr algn="ctr"/>
            <a:r>
              <a:rPr lang="en-US" dirty="0"/>
              <a:t>CSBC114  ·  Cybersecurity &amp; Blockchain  ·  Panel 6  ·  Sharda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73917-5C1C-82AB-6142-EB886DC6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58B04-B12F-1D0A-121A-346F95B9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04C547-3367-766C-837A-A78935C9A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4B83-38EE-F5C8-A96F-D32BF29FD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009BB2-8F7B-D699-BD61-2727F0F20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  AI-generated content may be incorrect.">
            <a:extLst>
              <a:ext uri="{FF2B5EF4-FFF2-40B4-BE49-F238E27FC236}">
                <a16:creationId xmlns:a16="http://schemas.microsoft.com/office/drawing/2014/main" id="{3156E695-F4ED-A550-9B6B-36EEB0848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0F3D4-715A-9B70-76F8-0B1A410BD936}"/>
              </a:ext>
            </a:extLst>
          </p:cNvPr>
          <p:cNvSpPr txBox="1"/>
          <p:nvPr/>
        </p:nvSpPr>
        <p:spPr>
          <a:xfrm>
            <a:off x="1381321" y="368038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1A5C3A"/>
                </a:solidFill>
              </a:rPr>
              <a:t>Yash Gadia  |  Sweta Kumari  |  Priyanshi Shrotriya  |  Shreyansh Khemka</a:t>
            </a:r>
          </a:p>
          <a:p>
            <a:pPr algn="l">
              <a:spcAft>
                <a:spcPts val="120"/>
              </a:spcAft>
            </a:pPr>
            <a:r>
              <a:rPr lang="en-US" sz="1300" i="1" dirty="0">
                <a:solidFill>
                  <a:srgbClr val="028090"/>
                </a:solidFill>
              </a:rPr>
              <a:t>https://attestr-app.vercel.app</a:t>
            </a:r>
          </a:p>
        </p:txBody>
      </p: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852</Words>
  <Application>Microsoft Macintosh PowerPoint</Application>
  <PresentationFormat>Widescreen</PresentationFormat>
  <Paragraphs>166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Problem Statement</vt:lpstr>
      <vt:lpstr>Proposed Solution / Idea</vt:lpstr>
      <vt:lpstr>Proposed Solution / Idea</vt:lpstr>
      <vt:lpstr>Proposed Solution / Idea</vt:lpstr>
      <vt:lpstr>Proposed Solution / Idea</vt:lpstr>
      <vt:lpstr>Proposed Solution / Idea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virdi</dc:creator>
  <cp:lastModifiedBy>Yash Gadia</cp:lastModifiedBy>
  <cp:revision>5</cp:revision>
  <cp:lastPrinted>2026-03-18T07:02:35Z</cp:lastPrinted>
  <dcterms:created xsi:type="dcterms:W3CDTF">2025-09-03T04:31:11Z</dcterms:created>
  <dcterms:modified xsi:type="dcterms:W3CDTF">2026-03-18T07:02:43Z</dcterms:modified>
</cp:coreProperties>
</file>