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6" r:id="rId3"/>
    <p:sldId id="257" r:id="rId4"/>
    <p:sldId id="258" r:id="rId5"/>
    <p:sldId id="265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61"/>
  </p:normalViewPr>
  <p:slideViewPr>
    <p:cSldViewPr snapToGrid="0">
      <p:cViewPr>
        <p:scale>
          <a:sx n="100" d="100"/>
          <a:sy n="100" d="100"/>
        </p:scale>
        <p:origin x="936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17/03/26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17/03/26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17/03/26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17/03/26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E5121-AEBF-F1E8-8A0C-1B576693E7BA}"/>
              </a:ext>
            </a:extLst>
          </p:cNvPr>
          <p:cNvSpPr txBox="1"/>
          <p:nvPr/>
        </p:nvSpPr>
        <p:spPr>
          <a:xfrm>
            <a:off x="803117" y="133108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INNOVATE BHARAT HACKATHON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02F6A545-7889-EE7D-B819-8344E089B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B5146A-EBD6-B1B2-C76F-054DAC334AA2}"/>
              </a:ext>
            </a:extLst>
          </p:cNvPr>
          <p:cNvSpPr txBox="1"/>
          <p:nvPr/>
        </p:nvSpPr>
        <p:spPr>
          <a:xfrm>
            <a:off x="2801211" y="2240121"/>
            <a:ext cx="6043803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TRACK: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Cybersecurity and Block Chain (CSBC)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ED24-D842-C3E8-2E3F-564DB8F6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9F52A71C-44A3-2F37-D0DE-AAB637FE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4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Attestr — Decentralized Media Authenticator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/>
            <a:r>
              <a:rPr lang="en-US" dirty="0"/>
              <a:t>Team Name: Ctrl+Alt+Diablo</a:t>
            </a:r>
          </a:p>
          <a:p>
            <a:pPr algn="ctr"/>
            <a:r>
              <a:rPr lang="en-US" dirty="0"/>
              <a:t>Team ID: CSBC114  |  Track: Cybersecurity &amp; Blockchain  |  Panel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A5C3A"/>
                </a:solidFill>
              </a:rPr>
              <a:t>Team Members: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01  Yash Gadia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02  Sweta Kumari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03  Priyanshi Shrotriya</a:t>
            </a:r>
          </a:p>
          <a:p>
            <a:pPr algn="l">
              <a:spcAft>
                <a:spcPts val="120"/>
              </a:spcAft>
            </a:pPr>
            <a:r>
              <a:rPr lang="en-US" sz="1300" dirty="0">
                <a:solidFill>
                  <a:srgbClr val="1C2D23"/>
                </a:solidFill>
              </a:rPr>
              <a:t>04  Shreyansh Khemka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C1B8-6662-5502-4089-9DEA9AE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6C71-BB9E-D39E-2E01-6947D286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3</a:t>
            </a:fld>
            <a:r>
              <a:rPr lang="en-IN" dirty="0"/>
              <a:t> W</a:t>
            </a:r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F4F79DF-9767-E5A8-8AF3-F6335318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7521C2D-0A12-0BE0-D27F-A64EC882E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33C47-0227-5277-1FFA-57C12A05F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BEFD-2238-7C2F-DF28-B09B2A460C30}"/>
              </a:ext>
            </a:extLst>
          </p:cNvPr>
          <p:cNvSpPr txBox="1"/>
          <p:nvPr/>
        </p:nvSpPr>
        <p:spPr>
          <a:xfrm>
            <a:off x="4171901" y="367607"/>
            <a:ext cx="384414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1F4149-52B1-AB05-4DBF-9B5E32861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C4F8C0D9-4C65-56AE-4144-C9CD551DE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21">
              <a:extLst>
                <a:ext uri="{FF2B5EF4-FFF2-40B4-BE49-F238E27FC236}">
                  <a16:creationId xmlns:a16="http://schemas.microsoft.com/office/drawing/2014/main" id="{05478CF4-30DD-6522-6898-A1FBC9668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id="{EC383C5F-8D6C-0C91-7F35-C78C3689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23">
              <a:extLst>
                <a:ext uri="{FF2B5EF4-FFF2-40B4-BE49-F238E27FC236}">
                  <a16:creationId xmlns:a16="http://schemas.microsoft.com/office/drawing/2014/main" id="{2AE493C0-FED7-A378-B4F2-739979AB1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close-up of a logo  AI-generated content may be incorrect.">
            <a:extLst>
              <a:ext uri="{FF2B5EF4-FFF2-40B4-BE49-F238E27FC236}">
                <a16:creationId xmlns:a16="http://schemas.microsoft.com/office/drawing/2014/main" id="{17FA03F5-F4BF-E184-6040-856156AE1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CA6072C-462B-7E98-EF93-005F337ED6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5E4D8B-36E6-F1FE-5E67-E097BFFEC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194A745E-CF17-8242-AAC1-CFD911AD4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27">
              <a:extLst>
                <a:ext uri="{FF2B5EF4-FFF2-40B4-BE49-F238E27FC236}">
                  <a16:creationId xmlns:a16="http://schemas.microsoft.com/office/drawing/2014/main" id="{0B68D38B-937C-ADE3-3B5F-1BBD3AD71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036A3A8D-E06A-449C-6C90-F84B9E8A2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29">
              <a:extLst>
                <a:ext uri="{FF2B5EF4-FFF2-40B4-BE49-F238E27FC236}">
                  <a16:creationId xmlns:a16="http://schemas.microsoft.com/office/drawing/2014/main" id="{38AF1577-067B-B497-7804-C17FA4C22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0" descr="A hands holding a light bulb  AI-generated content may be incorrect.">
            <a:extLst>
              <a:ext uri="{FF2B5EF4-FFF2-40B4-BE49-F238E27FC236}">
                <a16:creationId xmlns:a16="http://schemas.microsoft.com/office/drawing/2014/main" id="{5C19E2A6-1141-C824-F2BF-D2BFCF09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600" name="T600"/>
          <p:cNvSpPr txBox="1"/>
          <p:nvPr/>
        </p:nvSpPr>
        <p:spPr>
          <a:xfrm>
            <a:off x="3977640" y="960120"/>
            <a:ext cx="7543800" cy="384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2000" b="1" dirty="0">
                <a:solidFill>
                  <a:srgbClr val="1A5C3A"/>
                </a:solidFill>
              </a:rPr>
              <a:t>Trust in Digital Media is Broken</a:t>
            </a:r>
          </a:p>
        </p:txBody>
      </p:sp>
      <p:sp>
        <p:nvSpPr>
          <p:cNvPr id="610" name="R610"/>
          <p:cNvSpPr/>
          <p:nvPr/>
        </p:nvSpPr>
        <p:spPr>
          <a:xfrm>
            <a:off x="1780849" y="1602085"/>
            <a:ext cx="3537558" cy="148725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1" name="T611"/>
          <p:cNvSpPr txBox="1"/>
          <p:nvPr/>
        </p:nvSpPr>
        <p:spPr>
          <a:xfrm>
            <a:off x="1780849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96%</a:t>
            </a:r>
          </a:p>
        </p:txBody>
      </p:sp>
      <p:sp>
        <p:nvSpPr>
          <p:cNvPr id="612" name="T612"/>
          <p:cNvSpPr txBox="1"/>
          <p:nvPr/>
        </p:nvSpPr>
        <p:spPr>
          <a:xfrm>
            <a:off x="1780849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AI-generated
deepfakes</a:t>
            </a:r>
          </a:p>
        </p:txBody>
      </p:sp>
      <p:sp>
        <p:nvSpPr>
          <p:cNvPr id="613" name="R613"/>
          <p:cNvSpPr/>
          <p:nvPr/>
        </p:nvSpPr>
        <p:spPr>
          <a:xfrm>
            <a:off x="3680515" y="1602085"/>
            <a:ext cx="3537558" cy="148725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4" name="T614"/>
          <p:cNvSpPr txBox="1"/>
          <p:nvPr/>
        </p:nvSpPr>
        <p:spPr>
          <a:xfrm>
            <a:off x="3680515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10×</a:t>
            </a:r>
          </a:p>
        </p:txBody>
      </p:sp>
      <p:sp>
        <p:nvSpPr>
          <p:cNvPr id="615" name="T615"/>
          <p:cNvSpPr txBox="1"/>
          <p:nvPr/>
        </p:nvSpPr>
        <p:spPr>
          <a:xfrm>
            <a:off x="3680515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YoY growth in
deepfakes</a:t>
            </a:r>
          </a:p>
        </p:txBody>
      </p:sp>
      <p:sp>
        <p:nvSpPr>
          <p:cNvPr id="616" name="R616"/>
          <p:cNvSpPr/>
          <p:nvPr/>
        </p:nvSpPr>
        <p:spPr>
          <a:xfrm>
            <a:off x="5580181" y="1602085"/>
            <a:ext cx="3537558" cy="148725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17" name="T617"/>
          <p:cNvSpPr txBox="1"/>
          <p:nvPr/>
        </p:nvSpPr>
        <p:spPr>
          <a:xfrm>
            <a:off x="5580181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₹1,937Cr</a:t>
            </a:r>
          </a:p>
        </p:txBody>
      </p:sp>
      <p:sp>
        <p:nvSpPr>
          <p:cNvPr id="618" name="T618"/>
          <p:cNvSpPr txBox="1"/>
          <p:nvPr/>
        </p:nvSpPr>
        <p:spPr>
          <a:xfrm>
            <a:off x="5580181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India cyber fraud
FY 2025</a:t>
            </a:r>
          </a:p>
        </p:txBody>
      </p:sp>
      <p:sp>
        <p:nvSpPr>
          <p:cNvPr id="619" name="R619"/>
          <p:cNvSpPr/>
          <p:nvPr/>
        </p:nvSpPr>
        <p:spPr>
          <a:xfrm>
            <a:off x="7479847" y="1602085"/>
            <a:ext cx="3537558" cy="1487258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20" name="T620"/>
          <p:cNvSpPr txBox="1"/>
          <p:nvPr/>
        </p:nvSpPr>
        <p:spPr>
          <a:xfrm>
            <a:off x="7479847" y="1624413"/>
            <a:ext cx="3537558" cy="817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621" name="T621"/>
          <p:cNvSpPr txBox="1"/>
          <p:nvPr/>
        </p:nvSpPr>
        <p:spPr>
          <a:xfrm>
            <a:off x="7479847" y="2462435"/>
            <a:ext cx="3537558" cy="594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dirty="0">
                <a:solidFill>
                  <a:srgbClr val="C5E8D4"/>
                </a:solidFill>
              </a:rPr>
              <a:t>Cost to create
a deepfake</a:t>
            </a:r>
          </a:p>
        </p:txBody>
      </p:sp>
      <p:sp>
        <p:nvSpPr>
          <p:cNvPr id="630" name="R630"/>
          <p:cNvSpPr/>
          <p:nvPr/>
        </p:nvSpPr>
        <p:spPr>
          <a:xfrm>
            <a:off x="1780849" y="3295997"/>
            <a:ext cx="9236556" cy="1572244"/>
          </a:xfrm>
          <a:prstGeom prst="rect">
            <a:avLst/>
          </a:prstGeom>
          <a:solidFill>
            <a:srgbClr val="EAF5EF"/>
          </a:solidFill>
          <a:ln w="1524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631" name="R631"/>
          <p:cNvSpPr/>
          <p:nvPr/>
        </p:nvSpPr>
        <p:spPr>
          <a:xfrm>
            <a:off x="1780849" y="3295997"/>
            <a:ext cx="83663" cy="157224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32" name="M632"/>
          <p:cNvSpPr txBox="1"/>
          <p:nvPr/>
        </p:nvSpPr>
        <p:spPr>
          <a:xfrm>
            <a:off x="1918009" y="3375819"/>
            <a:ext cx="8898674" cy="1419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C2D23"/>
                </a:solidFill>
              </a:rPr>
              <a:t>Journalists, lawyers &amp; investigators have no reliable way to prove media authenticity.</a:t>
            </a:r>
          </a:p>
          <a:p>
            <a:pPr algn="l">
              <a:buNone/>
            </a:pPr>
            <a:r>
              <a:rPr lang="en-US" sz="1200" dirty="0">
                <a:solidFill>
                  <a:srgbClr val="1C2D23"/>
                </a:solidFill>
              </a:rPr>
              <a:t>Detection methods keep failing — every better detector is defeated by a better generator.</a:t>
            </a:r>
          </a:p>
          <a:p>
            <a:pPr algn="l">
              <a:buNone/>
            </a:pPr>
            <a:r>
              <a:rPr lang="en-US" sz="1200" dirty="0">
                <a:solidFill>
                  <a:srgbClr val="1C2D23"/>
                </a:solidFill>
              </a:rPr>
              <a:t>WhatsApp forwards of fake images have caused mob violence. The Election Commission flagged deepfakes as a top threat for 2026.</a:t>
            </a:r>
          </a:p>
        </p:txBody>
      </p:sp>
      <p:sp>
        <p:nvSpPr>
          <p:cNvPr id="635" name="R635"/>
          <p:cNvSpPr/>
          <p:nvPr/>
        </p:nvSpPr>
        <p:spPr>
          <a:xfrm>
            <a:off x="1780850" y="5046271"/>
            <a:ext cx="9236556" cy="101983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36" name="T636"/>
          <p:cNvSpPr txBox="1"/>
          <p:nvPr/>
        </p:nvSpPr>
        <p:spPr>
          <a:xfrm>
            <a:off x="1780850" y="5046271"/>
            <a:ext cx="9236556" cy="10198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problem isn't detecting fakes.  It's proving originals.</a:t>
            </a:r>
          </a:p>
        </p:txBody>
      </p:sp>
    </p:spTree>
    <p:extLst>
      <p:ext uri="{BB962C8B-B14F-4D97-AF65-F5344CB8AC3E}">
        <p14:creationId xmlns:p14="http://schemas.microsoft.com/office/powerpoint/2010/main" val="31201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E274-C627-E80A-CF40-A772916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5FD9-1F5F-5F84-88D9-A72F013C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1881C505-F0BD-25E8-FD3B-3295A5E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17EDC7-637D-2183-3E37-C6BECCCACC9E}"/>
              </a:ext>
            </a:extLst>
          </p:cNvPr>
          <p:cNvSpPr txBox="1">
            <a:spLocks/>
          </p:cNvSpPr>
          <p:nvPr/>
        </p:nvSpPr>
        <p:spPr>
          <a:xfrm>
            <a:off x="-845635" y="-3025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E7E5F9-EB5C-2C3D-7B75-4D4DDE0494D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4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683A6EE-89A4-6714-8511-0ED76F47C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A484D-D11F-0B17-F111-F76FB0BE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9220-2E5E-9225-03C7-7D31CE8F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091E1-2002-C3EF-AD14-30B2F7142842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latin typeface="+mj-lt"/>
                <a:ea typeface="+mj-ea"/>
                <a:cs typeface="+mj-cs"/>
              </a:rPr>
              <a:t>Proposed Solution/Idea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1F2F74-3A1F-1FC4-F4D1-EDAA57D68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0F18D0D6-2A36-D31D-D9D1-5A6DF35D5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C2468D4-3664-2D33-9388-48C1EEA50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FD6F78CC-57EB-00F3-78A1-5BE0F030D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24639984-D9DD-7D44-7846-ED71B4598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B6E4A9D6-5D70-4F8A-0423-C0154E804D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48891F8-A067-286D-FFC5-F283B06FA6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BD122-45D1-5D24-39BA-6BA0631D3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A95D2445-22C7-5060-1017-16E390802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0492B89D-0873-485F-2316-F176A209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229C523E-42B0-8B62-1C8A-756271BAD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C36ADEC2-9229-4261-1704-0441B691B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2ADC4BFE-1AB8-DA1A-99B3-25B4C716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700" name="T700"/>
          <p:cNvSpPr txBox="1"/>
          <p:nvPr/>
        </p:nvSpPr>
        <p:spPr>
          <a:xfrm>
            <a:off x="2324100" y="983534"/>
            <a:ext cx="7543800" cy="384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Attestr: Blockchain-Powered Media Verification</a:t>
            </a:r>
          </a:p>
        </p:txBody>
      </p:sp>
      <p:sp>
        <p:nvSpPr>
          <p:cNvPr id="701" name="T701"/>
          <p:cNvSpPr txBox="1"/>
          <p:nvPr/>
        </p:nvSpPr>
        <p:spPr>
          <a:xfrm>
            <a:off x="2324100" y="1376726"/>
            <a:ext cx="7543800" cy="2926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i="1" dirty="0">
                <a:solidFill>
                  <a:srgbClr val="3A5A47"/>
                </a:solidFill>
              </a:rPr>
              <a:t>Browser-based platform — tamper-proof cryptographic fingerprints on Ethereum. Files never leave your device.</a:t>
            </a:r>
          </a:p>
        </p:txBody>
      </p:sp>
      <p:sp>
        <p:nvSpPr>
          <p:cNvPr id="702" name="R702"/>
          <p:cNvSpPr/>
          <p:nvPr/>
        </p:nvSpPr>
        <p:spPr>
          <a:xfrm>
            <a:off x="2324100" y="1715054"/>
            <a:ext cx="320040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03" name="T703"/>
          <p:cNvSpPr txBox="1"/>
          <p:nvPr/>
        </p:nvSpPr>
        <p:spPr>
          <a:xfrm>
            <a:off x="2324100" y="1715054"/>
            <a:ext cx="3200400" cy="2560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HOW IT WORKS — 5-STEP PIPELINE</a:t>
            </a:r>
          </a:p>
        </p:txBody>
      </p:sp>
      <p:sp>
        <p:nvSpPr>
          <p:cNvPr id="710" name="R710"/>
          <p:cNvSpPr/>
          <p:nvPr/>
        </p:nvSpPr>
        <p:spPr>
          <a:xfrm>
            <a:off x="2324100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11" name="R711"/>
          <p:cNvSpPr/>
          <p:nvPr/>
        </p:nvSpPr>
        <p:spPr>
          <a:xfrm>
            <a:off x="2324100" y="2016806"/>
            <a:ext cx="1472184" cy="42062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12" name="T712"/>
          <p:cNvSpPr txBox="1"/>
          <p:nvPr/>
        </p:nvSpPr>
        <p:spPr>
          <a:xfrm>
            <a:off x="2324100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13" name="T713"/>
          <p:cNvSpPr txBox="1"/>
          <p:nvPr/>
        </p:nvSpPr>
        <p:spPr>
          <a:xfrm>
            <a:off x="2378964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CAPTURE</a:t>
            </a:r>
          </a:p>
        </p:txBody>
      </p:sp>
      <p:sp>
        <p:nvSpPr>
          <p:cNvPr id="714" name="T714"/>
          <p:cNvSpPr txBox="1"/>
          <p:nvPr/>
        </p:nvSpPr>
        <p:spPr>
          <a:xfrm>
            <a:off x="2378964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Upload or
camera input</a:t>
            </a:r>
          </a:p>
        </p:txBody>
      </p:sp>
      <p:sp>
        <p:nvSpPr>
          <p:cNvPr id="715" name="R715"/>
          <p:cNvSpPr/>
          <p:nvPr/>
        </p:nvSpPr>
        <p:spPr>
          <a:xfrm>
            <a:off x="3842004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16" name="R716"/>
          <p:cNvSpPr/>
          <p:nvPr/>
        </p:nvSpPr>
        <p:spPr>
          <a:xfrm>
            <a:off x="3842004" y="2016806"/>
            <a:ext cx="1472184" cy="420624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17" name="T717"/>
          <p:cNvSpPr txBox="1"/>
          <p:nvPr/>
        </p:nvSpPr>
        <p:spPr>
          <a:xfrm>
            <a:off x="3842004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18" name="T718"/>
          <p:cNvSpPr txBox="1"/>
          <p:nvPr/>
        </p:nvSpPr>
        <p:spPr>
          <a:xfrm>
            <a:off x="3896868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HASH</a:t>
            </a:r>
          </a:p>
        </p:txBody>
      </p:sp>
      <p:sp>
        <p:nvSpPr>
          <p:cNvPr id="719" name="T719"/>
          <p:cNvSpPr txBox="1"/>
          <p:nvPr/>
        </p:nvSpPr>
        <p:spPr>
          <a:xfrm>
            <a:off x="3896868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SHA-256 + dHash
client-side</a:t>
            </a:r>
          </a:p>
        </p:txBody>
      </p:sp>
      <p:sp>
        <p:nvSpPr>
          <p:cNvPr id="720" name="R720"/>
          <p:cNvSpPr/>
          <p:nvPr/>
        </p:nvSpPr>
        <p:spPr>
          <a:xfrm>
            <a:off x="5359908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21" name="R721"/>
          <p:cNvSpPr/>
          <p:nvPr/>
        </p:nvSpPr>
        <p:spPr>
          <a:xfrm>
            <a:off x="5359908" y="2016806"/>
            <a:ext cx="1472184" cy="42062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22" name="T722"/>
          <p:cNvSpPr txBox="1"/>
          <p:nvPr/>
        </p:nvSpPr>
        <p:spPr>
          <a:xfrm>
            <a:off x="5359908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23" name="T723"/>
          <p:cNvSpPr txBox="1"/>
          <p:nvPr/>
        </p:nvSpPr>
        <p:spPr>
          <a:xfrm>
            <a:off x="5414772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REGISTER</a:t>
            </a:r>
          </a:p>
        </p:txBody>
      </p:sp>
      <p:sp>
        <p:nvSpPr>
          <p:cNvPr id="724" name="T724"/>
          <p:cNvSpPr txBox="1"/>
          <p:nvPr/>
        </p:nvSpPr>
        <p:spPr>
          <a:xfrm>
            <a:off x="5414772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Ethereum smart
contract</a:t>
            </a:r>
          </a:p>
        </p:txBody>
      </p:sp>
      <p:sp>
        <p:nvSpPr>
          <p:cNvPr id="725" name="R725"/>
          <p:cNvSpPr/>
          <p:nvPr/>
        </p:nvSpPr>
        <p:spPr>
          <a:xfrm>
            <a:off x="6877812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26" name="R726"/>
          <p:cNvSpPr/>
          <p:nvPr/>
        </p:nvSpPr>
        <p:spPr>
          <a:xfrm>
            <a:off x="6877812" y="2016806"/>
            <a:ext cx="1472184" cy="42062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27" name="T727"/>
          <p:cNvSpPr txBox="1"/>
          <p:nvPr/>
        </p:nvSpPr>
        <p:spPr>
          <a:xfrm>
            <a:off x="6877812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28" name="T728"/>
          <p:cNvSpPr txBox="1"/>
          <p:nvPr/>
        </p:nvSpPr>
        <p:spPr>
          <a:xfrm>
            <a:off x="6932676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VERIFY</a:t>
            </a:r>
          </a:p>
        </p:txBody>
      </p:sp>
      <p:sp>
        <p:nvSpPr>
          <p:cNvPr id="729" name="T729"/>
          <p:cNvSpPr txBox="1"/>
          <p:nvPr/>
        </p:nvSpPr>
        <p:spPr>
          <a:xfrm>
            <a:off x="6932676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Exact + fuzzy
matching</a:t>
            </a:r>
          </a:p>
        </p:txBody>
      </p:sp>
      <p:sp>
        <p:nvSpPr>
          <p:cNvPr id="730" name="R730"/>
          <p:cNvSpPr/>
          <p:nvPr/>
        </p:nvSpPr>
        <p:spPr>
          <a:xfrm>
            <a:off x="8395716" y="2016806"/>
            <a:ext cx="147218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731" name="R731"/>
          <p:cNvSpPr/>
          <p:nvPr/>
        </p:nvSpPr>
        <p:spPr>
          <a:xfrm>
            <a:off x="8395716" y="2016806"/>
            <a:ext cx="1472184" cy="420624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32" name="T732"/>
          <p:cNvSpPr txBox="1"/>
          <p:nvPr/>
        </p:nvSpPr>
        <p:spPr>
          <a:xfrm>
            <a:off x="8395716" y="2016806"/>
            <a:ext cx="1472184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33" name="T733"/>
          <p:cNvSpPr txBox="1"/>
          <p:nvPr/>
        </p:nvSpPr>
        <p:spPr>
          <a:xfrm>
            <a:off x="8450580" y="2474006"/>
            <a:ext cx="1362456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1A5C3A"/>
                </a:solidFill>
              </a:rPr>
              <a:t>ANALYZE</a:t>
            </a:r>
          </a:p>
        </p:txBody>
      </p:sp>
      <p:sp>
        <p:nvSpPr>
          <p:cNvPr id="734" name="T734"/>
          <p:cNvSpPr txBox="1"/>
          <p:nvPr/>
        </p:nvSpPr>
        <p:spPr>
          <a:xfrm>
            <a:off x="8450580" y="2821478"/>
            <a:ext cx="1362456" cy="832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dirty="0">
                <a:solidFill>
                  <a:srgbClr val="3A5A47"/>
                </a:solidFill>
              </a:rPr>
              <a:t>ELA + EXIF
+ AI detection</a:t>
            </a:r>
          </a:p>
        </p:txBody>
      </p:sp>
      <p:sp>
        <p:nvSpPr>
          <p:cNvPr id="750" name="R750"/>
          <p:cNvSpPr/>
          <p:nvPr/>
        </p:nvSpPr>
        <p:spPr>
          <a:xfrm>
            <a:off x="2324100" y="3831775"/>
            <a:ext cx="7543800" cy="22402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751" name="T751"/>
          <p:cNvSpPr txBox="1"/>
          <p:nvPr/>
        </p:nvSpPr>
        <p:spPr>
          <a:xfrm>
            <a:off x="2461260" y="3891326"/>
            <a:ext cx="146304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90C8A0"/>
                </a:solidFill>
              </a:rPr>
              <a:t>Architecture</a:t>
            </a:r>
          </a:p>
        </p:txBody>
      </p:sp>
      <p:sp>
        <p:nvSpPr>
          <p:cNvPr id="752" name="M752"/>
          <p:cNvSpPr txBox="1"/>
          <p:nvPr/>
        </p:nvSpPr>
        <p:spPr>
          <a:xfrm>
            <a:off x="2461260" y="4279392"/>
            <a:ext cx="7287768" cy="17373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CLIENT (Upload / SHA-256 / dHash / ELA / EXIF)   →   SERVER (POST /register · POST /verify · GET /chain)   →   CHAIN (Ethereum Sepolia · Immutable · Public)</a:t>
            </a:r>
          </a:p>
          <a:p>
            <a:pPr algn="l">
              <a:buNone/>
            </a:pPr>
            <a:r>
              <a:rPr lang="en-US" sz="1020" i="1" dirty="0">
                <a:solidFill>
                  <a:srgbClr val="7DC89A"/>
                </a:solidFill>
              </a:rPr>
              <a:t>Smart Contract: 0x37FCD33D5FF07cfa3A75D27B4ec4cF09e458dfac   |   Live: https://attestr-app.vercel.app</a:t>
            </a:r>
          </a:p>
        </p:txBody>
      </p:sp>
    </p:spTree>
    <p:extLst>
      <p:ext uri="{BB962C8B-B14F-4D97-AF65-F5344CB8AC3E}">
        <p14:creationId xmlns:p14="http://schemas.microsoft.com/office/powerpoint/2010/main" val="33926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D30F-10BD-514E-7C2C-CABF8E09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D5E0-65C4-2D79-C240-6F35388C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B8DF-4E89-6DB0-A717-08CB3CAD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B5C77F5-55DB-01EC-2CEB-E7D257000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6B15E6-66C7-8C8F-55E9-2270E947AB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6C2E2F-CC94-B1E1-450B-FEC3325BA6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5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54B53E9A-85E5-FD12-E25C-7D74D0CCB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7E2899-E97A-85D0-444F-D069DC5C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8DAE5-57C9-1062-38D4-F5D8E259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04CEB-AD09-ADB6-0862-0ADFFB82A844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Innovation &amp; Uniqueness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DCBCC-8F45-37BD-DEE5-29084AD9D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AABF1DC9-A94A-61AB-5C74-C79B5CA90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03C9544-ED11-2412-FD24-285C67687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EDEE767-488B-1174-0772-46A5D123F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C4ECB3AC-B40D-3ED9-C7E7-76A4D0B6F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A0DA2E88-67C5-2FCA-3DE1-4F730134B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7511144-1C96-849F-67EF-9F96E90984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FD04D1-E8CD-C58A-C032-845D9E8D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8F56B301-92D9-0147-A14C-E6A5F95B5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63F0C9E-F01D-E8A5-E3D2-6E57765F1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A8062F2-6D93-3D81-617D-BAD884637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A7400B5D-5F6F-9D51-3A29-BE50D9A10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2EE08080-4909-1A84-D501-9A12BB0A0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800" name="T800"/>
          <p:cNvSpPr txBox="1"/>
          <p:nvPr/>
        </p:nvSpPr>
        <p:spPr>
          <a:xfrm>
            <a:off x="3977640" y="960120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Exists vs. What We Built</a:t>
            </a:r>
          </a:p>
        </p:txBody>
      </p:sp>
      <p:sp>
        <p:nvSpPr>
          <p:cNvPr id="801" name="R801"/>
          <p:cNvSpPr/>
          <p:nvPr/>
        </p:nvSpPr>
        <p:spPr>
          <a:xfrm>
            <a:off x="2314849" y="1437351"/>
            <a:ext cx="7543800" cy="32918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02" name="T802"/>
          <p:cNvSpPr txBox="1"/>
          <p:nvPr/>
        </p:nvSpPr>
        <p:spPr>
          <a:xfrm>
            <a:off x="2369713" y="1437351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4701433" y="1437351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Blockchain?</a:t>
            </a:r>
          </a:p>
        </p:txBody>
      </p:sp>
      <p:sp>
        <p:nvSpPr>
          <p:cNvPr id="804" name="T804"/>
          <p:cNvSpPr txBox="1"/>
          <p:nvPr/>
        </p:nvSpPr>
        <p:spPr>
          <a:xfrm>
            <a:off x="6530233" y="1437351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Key Limitation</a:t>
            </a:r>
          </a:p>
        </p:txBody>
      </p:sp>
      <p:sp>
        <p:nvSpPr>
          <p:cNvPr id="810" name="R810"/>
          <p:cNvSpPr/>
          <p:nvPr/>
        </p:nvSpPr>
        <p:spPr>
          <a:xfrm>
            <a:off x="2314849" y="1766535"/>
            <a:ext cx="7543800" cy="329184"/>
          </a:xfrm>
          <a:prstGeom prst="rect">
            <a:avLst/>
          </a:prstGeom>
          <a:solidFill>
            <a:srgbClr val="F0F7F3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11" name="T811"/>
          <p:cNvSpPr txBox="1"/>
          <p:nvPr/>
        </p:nvSpPr>
        <p:spPr>
          <a:xfrm>
            <a:off x="2369713" y="1766535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C2PA (Adobe, MS, Google)</a:t>
            </a:r>
          </a:p>
        </p:txBody>
      </p:sp>
      <p:sp>
        <p:nvSpPr>
          <p:cNvPr id="812" name="T812"/>
          <p:cNvSpPr txBox="1"/>
          <p:nvPr/>
        </p:nvSpPr>
        <p:spPr>
          <a:xfrm>
            <a:off x="4701433" y="1766535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 — PKI only</a:t>
            </a:r>
          </a:p>
        </p:txBody>
      </p:sp>
      <p:sp>
        <p:nvSpPr>
          <p:cNvPr id="813" name="T813"/>
          <p:cNvSpPr txBox="1"/>
          <p:nvPr/>
        </p:nvSpPr>
        <p:spPr>
          <a:xfrm>
            <a:off x="6530233" y="1766535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Metadata stripped by screenshots</a:t>
            </a:r>
          </a:p>
        </p:txBody>
      </p:sp>
      <p:sp>
        <p:nvSpPr>
          <p:cNvPr id="815" name="R815"/>
          <p:cNvSpPr/>
          <p:nvPr/>
        </p:nvSpPr>
        <p:spPr>
          <a:xfrm>
            <a:off x="2314849" y="2095719"/>
            <a:ext cx="7543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16" name="T816"/>
          <p:cNvSpPr txBox="1"/>
          <p:nvPr/>
        </p:nvSpPr>
        <p:spPr>
          <a:xfrm>
            <a:off x="2369713" y="2095719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Truepic ($26M funded)</a:t>
            </a:r>
          </a:p>
        </p:txBody>
      </p:sp>
      <p:sp>
        <p:nvSpPr>
          <p:cNvPr id="817" name="T817"/>
          <p:cNvSpPr txBox="1"/>
          <p:nvPr/>
        </p:nvSpPr>
        <p:spPr>
          <a:xfrm>
            <a:off x="4701433" y="2095719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Abandoned</a:t>
            </a:r>
          </a:p>
        </p:txBody>
      </p:sp>
      <p:sp>
        <p:nvSpPr>
          <p:cNvPr id="818" name="T818"/>
          <p:cNvSpPr txBox="1"/>
          <p:nvPr/>
        </p:nvSpPr>
        <p:spPr>
          <a:xfrm>
            <a:off x="6530233" y="2095719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Requires special hardware</a:t>
            </a:r>
          </a:p>
        </p:txBody>
      </p:sp>
      <p:sp>
        <p:nvSpPr>
          <p:cNvPr id="820" name="R820"/>
          <p:cNvSpPr/>
          <p:nvPr/>
        </p:nvSpPr>
        <p:spPr>
          <a:xfrm>
            <a:off x="2314849" y="2424903"/>
            <a:ext cx="7543800" cy="329184"/>
          </a:xfrm>
          <a:prstGeom prst="rect">
            <a:avLst/>
          </a:prstGeom>
          <a:solidFill>
            <a:srgbClr val="F0F7F3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21" name="T821"/>
          <p:cNvSpPr txBox="1"/>
          <p:nvPr/>
        </p:nvSpPr>
        <p:spPr>
          <a:xfrm>
            <a:off x="2369713" y="2424903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OpenOrigins ($4.5M)</a:t>
            </a:r>
          </a:p>
        </p:txBody>
      </p:sp>
      <p:sp>
        <p:nvSpPr>
          <p:cNvPr id="822" name="T822"/>
          <p:cNvSpPr txBox="1"/>
          <p:nvPr/>
        </p:nvSpPr>
        <p:spPr>
          <a:xfrm>
            <a:off x="4701433" y="2424903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Permissioned chain</a:t>
            </a:r>
          </a:p>
        </p:txBody>
      </p:sp>
      <p:sp>
        <p:nvSpPr>
          <p:cNvPr id="823" name="T823"/>
          <p:cNvSpPr txBox="1"/>
          <p:nvPr/>
        </p:nvSpPr>
        <p:spPr>
          <a:xfrm>
            <a:off x="6530233" y="2424903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Not truly decentralized</a:t>
            </a:r>
          </a:p>
        </p:txBody>
      </p:sp>
      <p:sp>
        <p:nvSpPr>
          <p:cNvPr id="825" name="R825"/>
          <p:cNvSpPr/>
          <p:nvPr/>
        </p:nvSpPr>
        <p:spPr>
          <a:xfrm>
            <a:off x="2314849" y="2754087"/>
            <a:ext cx="7543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26" name="T826"/>
          <p:cNvSpPr txBox="1"/>
          <p:nvPr/>
        </p:nvSpPr>
        <p:spPr>
          <a:xfrm>
            <a:off x="2369713" y="2754087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Reality Defender (YC)</a:t>
            </a:r>
          </a:p>
        </p:txBody>
      </p:sp>
      <p:sp>
        <p:nvSpPr>
          <p:cNvPr id="827" name="T827"/>
          <p:cNvSpPr txBox="1"/>
          <p:nvPr/>
        </p:nvSpPr>
        <p:spPr>
          <a:xfrm>
            <a:off x="4701433" y="2754087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No</a:t>
            </a:r>
          </a:p>
        </p:txBody>
      </p:sp>
      <p:sp>
        <p:nvSpPr>
          <p:cNvPr id="828" name="T828"/>
          <p:cNvSpPr txBox="1"/>
          <p:nvPr/>
        </p:nvSpPr>
        <p:spPr>
          <a:xfrm>
            <a:off x="6530233" y="2754087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60" dirty="0">
                <a:solidFill>
                  <a:srgbClr val="1C2D23"/>
                </a:solidFill>
              </a:rPr>
              <a:t>Detection only, no provenance</a:t>
            </a:r>
          </a:p>
        </p:txBody>
      </p:sp>
      <p:sp>
        <p:nvSpPr>
          <p:cNvPr id="840" name="R840"/>
          <p:cNvSpPr/>
          <p:nvPr/>
        </p:nvSpPr>
        <p:spPr>
          <a:xfrm>
            <a:off x="2314849" y="3083271"/>
            <a:ext cx="7543800" cy="329184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41" name="T841"/>
          <p:cNvSpPr txBox="1"/>
          <p:nvPr/>
        </p:nvSpPr>
        <p:spPr>
          <a:xfrm>
            <a:off x="2369713" y="3083271"/>
            <a:ext cx="227685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▶  Attestr (Ours)</a:t>
            </a:r>
          </a:p>
        </p:txBody>
      </p:sp>
      <p:sp>
        <p:nvSpPr>
          <p:cNvPr id="842" name="T842"/>
          <p:cNvSpPr txBox="1"/>
          <p:nvPr/>
        </p:nvSpPr>
        <p:spPr>
          <a:xfrm>
            <a:off x="4701433" y="3083271"/>
            <a:ext cx="177393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✓ Public Ethereum</a:t>
            </a:r>
          </a:p>
        </p:txBody>
      </p:sp>
      <p:sp>
        <p:nvSpPr>
          <p:cNvPr id="843" name="T843"/>
          <p:cNvSpPr txBox="1"/>
          <p:nvPr/>
        </p:nvSpPr>
        <p:spPr>
          <a:xfrm>
            <a:off x="6530233" y="3083271"/>
            <a:ext cx="3328416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None of the above ✓</a:t>
            </a:r>
          </a:p>
        </p:txBody>
      </p:sp>
      <p:sp>
        <p:nvSpPr>
          <p:cNvPr id="850" name="R850"/>
          <p:cNvSpPr/>
          <p:nvPr/>
        </p:nvSpPr>
        <p:spPr>
          <a:xfrm>
            <a:off x="2314849" y="3558759"/>
            <a:ext cx="1188720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51" name="T851"/>
          <p:cNvSpPr txBox="1"/>
          <p:nvPr/>
        </p:nvSpPr>
        <p:spPr>
          <a:xfrm>
            <a:off x="2314849" y="3558759"/>
            <a:ext cx="1188720" cy="2560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OUR EDGE</a:t>
            </a:r>
          </a:p>
        </p:txBody>
      </p:sp>
      <p:sp>
        <p:nvSpPr>
          <p:cNvPr id="860" name="R860"/>
          <p:cNvSpPr/>
          <p:nvPr/>
        </p:nvSpPr>
        <p:spPr>
          <a:xfrm>
            <a:off x="2314849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1" name="R861"/>
          <p:cNvSpPr/>
          <p:nvPr/>
        </p:nvSpPr>
        <p:spPr>
          <a:xfrm>
            <a:off x="2314849" y="3869655"/>
            <a:ext cx="59436" cy="222199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62" name="T862"/>
          <p:cNvSpPr txBox="1"/>
          <p:nvPr/>
        </p:nvSpPr>
        <p:spPr>
          <a:xfrm>
            <a:off x="2433721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Zero Data Exposure</a:t>
            </a:r>
          </a:p>
        </p:txBody>
      </p:sp>
      <p:sp>
        <p:nvSpPr>
          <p:cNvPr id="863" name="M863"/>
          <p:cNvSpPr txBox="1"/>
          <p:nvPr/>
        </p:nvSpPr>
        <p:spPr>
          <a:xfrm>
            <a:off x="2433721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Client-side hashing via Web Workers — nothing ever leaves your device</a:t>
            </a:r>
          </a:p>
        </p:txBody>
      </p:sp>
      <p:sp>
        <p:nvSpPr>
          <p:cNvPr id="864" name="R864"/>
          <p:cNvSpPr/>
          <p:nvPr/>
        </p:nvSpPr>
        <p:spPr>
          <a:xfrm>
            <a:off x="4214515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5" name="R865"/>
          <p:cNvSpPr/>
          <p:nvPr/>
        </p:nvSpPr>
        <p:spPr>
          <a:xfrm>
            <a:off x="4214515" y="3869655"/>
            <a:ext cx="59436" cy="222199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66" name="T866"/>
          <p:cNvSpPr txBox="1"/>
          <p:nvPr/>
        </p:nvSpPr>
        <p:spPr>
          <a:xfrm>
            <a:off x="4333387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fontScale="92500"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Screenshot-Proof Hash</a:t>
            </a:r>
          </a:p>
        </p:txBody>
      </p:sp>
      <p:sp>
        <p:nvSpPr>
          <p:cNvPr id="867" name="M867"/>
          <p:cNvSpPr txBox="1"/>
          <p:nvPr/>
        </p:nvSpPr>
        <p:spPr>
          <a:xfrm>
            <a:off x="4333387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Perceptual dHash survives screenshots, compression &amp; re-uploads</a:t>
            </a:r>
          </a:p>
        </p:txBody>
      </p:sp>
      <p:sp>
        <p:nvSpPr>
          <p:cNvPr id="868" name="R868"/>
          <p:cNvSpPr/>
          <p:nvPr/>
        </p:nvSpPr>
        <p:spPr>
          <a:xfrm>
            <a:off x="6114181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69" name="R869"/>
          <p:cNvSpPr/>
          <p:nvPr/>
        </p:nvSpPr>
        <p:spPr>
          <a:xfrm>
            <a:off x="6114181" y="3869655"/>
            <a:ext cx="59436" cy="22219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70" name="T870"/>
          <p:cNvSpPr txBox="1"/>
          <p:nvPr/>
        </p:nvSpPr>
        <p:spPr>
          <a:xfrm>
            <a:off x="6233053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Truly Decentralized</a:t>
            </a:r>
          </a:p>
        </p:txBody>
      </p:sp>
      <p:sp>
        <p:nvSpPr>
          <p:cNvPr id="871" name="M871"/>
          <p:cNvSpPr txBox="1"/>
          <p:nvPr/>
        </p:nvSpPr>
        <p:spPr>
          <a:xfrm>
            <a:off x="6233053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Public Ethereum — not a permissioned chain controlled by one entity</a:t>
            </a:r>
          </a:p>
        </p:txBody>
      </p:sp>
      <p:sp>
        <p:nvSpPr>
          <p:cNvPr id="872" name="R872"/>
          <p:cNvSpPr/>
          <p:nvPr/>
        </p:nvSpPr>
        <p:spPr>
          <a:xfrm>
            <a:off x="8013847" y="3869655"/>
            <a:ext cx="1844802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873" name="R873"/>
          <p:cNvSpPr/>
          <p:nvPr/>
        </p:nvSpPr>
        <p:spPr>
          <a:xfrm>
            <a:off x="8013847" y="3869655"/>
            <a:ext cx="59436" cy="2221992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874" name="T874"/>
          <p:cNvSpPr txBox="1"/>
          <p:nvPr/>
        </p:nvSpPr>
        <p:spPr>
          <a:xfrm>
            <a:off x="8132719" y="3933663"/>
            <a:ext cx="168021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All-In-One Forensics</a:t>
            </a:r>
          </a:p>
        </p:txBody>
      </p:sp>
      <p:sp>
        <p:nvSpPr>
          <p:cNvPr id="875" name="M875"/>
          <p:cNvSpPr txBox="1"/>
          <p:nvPr/>
        </p:nvSpPr>
        <p:spPr>
          <a:xfrm>
            <a:off x="8132719" y="4281135"/>
            <a:ext cx="1652778" cy="171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1C2D23"/>
                </a:solidFill>
              </a:rPr>
              <a:t>ELA + EXIF + AI in one platform; $0 cost today, 93% gross margins</a:t>
            </a:r>
          </a:p>
        </p:txBody>
      </p:sp>
    </p:spTree>
    <p:extLst>
      <p:ext uri="{BB962C8B-B14F-4D97-AF65-F5344CB8AC3E}">
        <p14:creationId xmlns:p14="http://schemas.microsoft.com/office/powerpoint/2010/main" val="30237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8FB9-46E2-C60C-92BF-22CDB5C9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F5E-09E4-89B4-39EB-7556D28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7143B-C875-A4A1-E58E-319DCF09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BBB029A8-98E0-4E57-80DD-6D36B04F4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70DF77-BE14-CE10-0B50-6191FB44B6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D8712E-6DF1-09B5-902D-9AF580CECD5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6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D9DEF76F-CBFB-1ABB-0620-66518FD34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9EC2AC-5B66-5A6F-B955-120E873F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74A5-3983-068B-F32E-8D20AF02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3535A-4715-6023-8F45-4697755BE93E}"/>
              </a:ext>
            </a:extLst>
          </p:cNvPr>
          <p:cNvSpPr txBox="1"/>
          <p:nvPr/>
        </p:nvSpPr>
        <p:spPr>
          <a:xfrm>
            <a:off x="3860250" y="367607"/>
            <a:ext cx="4462617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Technology Used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005E67-F019-51A5-34EF-25901F9E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DEF9EA64-B8A6-6D34-CDF3-C252EA242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F5E976EA-8480-23C8-DDB2-E4E959D99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09BC0516-0B22-65CF-2A7B-5B7B325E4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982F7E74-CC9C-4776-1C91-75D14D576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A1F267AE-7039-7AAA-610C-B932FCC04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7304840-A971-834E-F7D8-973EE14637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CD3C47-FB45-34FD-67BB-14947EAE6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23FF4FB-E123-1FBD-1E9C-66CFCE36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79BD904-6C3E-E11F-7070-EEC4F0408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48D44DE1-C7FC-D524-9BC8-37489EF04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939ECBD1-5700-7DF0-71AC-4187AAAA2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CCD3785-85D3-171F-7854-C97494395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900" name="T900"/>
          <p:cNvSpPr txBox="1"/>
          <p:nvPr/>
        </p:nvSpPr>
        <p:spPr>
          <a:xfrm>
            <a:off x="2368997" y="995768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Built With Modern, Open Tools</a:t>
            </a:r>
          </a:p>
        </p:txBody>
      </p:sp>
      <p:sp>
        <p:nvSpPr>
          <p:cNvPr id="910" name="R910"/>
          <p:cNvSpPr/>
          <p:nvPr/>
        </p:nvSpPr>
        <p:spPr>
          <a:xfrm>
            <a:off x="2368997" y="1425536"/>
            <a:ext cx="2453640" cy="36576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11" name="T911"/>
          <p:cNvSpPr txBox="1"/>
          <p:nvPr/>
        </p:nvSpPr>
        <p:spPr>
          <a:xfrm>
            <a:off x="236899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12" name="R912"/>
          <p:cNvSpPr/>
          <p:nvPr/>
        </p:nvSpPr>
        <p:spPr>
          <a:xfrm>
            <a:off x="236899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13" name="M913"/>
          <p:cNvSpPr txBox="1"/>
          <p:nvPr/>
        </p:nvSpPr>
        <p:spPr>
          <a:xfrm>
            <a:off x="248786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React 19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Vite 8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Tailwind CSS 4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Framer Motion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Three.js / React Three Fiber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React Router 7</a:t>
            </a:r>
          </a:p>
        </p:txBody>
      </p:sp>
      <p:sp>
        <p:nvSpPr>
          <p:cNvPr id="930" name="R930"/>
          <p:cNvSpPr/>
          <p:nvPr/>
        </p:nvSpPr>
        <p:spPr>
          <a:xfrm>
            <a:off x="4914077" y="1425536"/>
            <a:ext cx="2453640" cy="365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31" name="T931"/>
          <p:cNvSpPr txBox="1"/>
          <p:nvPr/>
        </p:nvSpPr>
        <p:spPr>
          <a:xfrm>
            <a:off x="491407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BACKEND &amp; BLOCKCHAIN</a:t>
            </a:r>
          </a:p>
        </p:txBody>
      </p:sp>
      <p:sp>
        <p:nvSpPr>
          <p:cNvPr id="932" name="R932"/>
          <p:cNvSpPr/>
          <p:nvPr/>
        </p:nvSpPr>
        <p:spPr>
          <a:xfrm>
            <a:off x="491407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33" name="M933"/>
          <p:cNvSpPr txBox="1"/>
          <p:nvPr/>
        </p:nvSpPr>
        <p:spPr>
          <a:xfrm>
            <a:off x="503294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Node.js + Express 5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Vercel Serverless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Solidity 0.8.24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Ethereum Sepolia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ethers.js 6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Firebase Auth (Google OAuth)</a:t>
            </a:r>
          </a:p>
        </p:txBody>
      </p:sp>
      <p:sp>
        <p:nvSpPr>
          <p:cNvPr id="950" name="R950"/>
          <p:cNvSpPr/>
          <p:nvPr/>
        </p:nvSpPr>
        <p:spPr>
          <a:xfrm>
            <a:off x="7459157" y="1425536"/>
            <a:ext cx="24536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951" name="T951"/>
          <p:cNvSpPr txBox="1"/>
          <p:nvPr/>
        </p:nvSpPr>
        <p:spPr>
          <a:xfrm>
            <a:off x="7459157" y="1425536"/>
            <a:ext cx="245364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CRYPTOGRAPHY &amp; AI</a:t>
            </a:r>
          </a:p>
        </p:txBody>
      </p:sp>
      <p:sp>
        <p:nvSpPr>
          <p:cNvPr id="952" name="R952"/>
          <p:cNvSpPr/>
          <p:nvPr/>
        </p:nvSpPr>
        <p:spPr>
          <a:xfrm>
            <a:off x="7459157" y="1791296"/>
            <a:ext cx="2453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53" name="M953"/>
          <p:cNvSpPr txBox="1"/>
          <p:nvPr/>
        </p:nvSpPr>
        <p:spPr>
          <a:xfrm>
            <a:off x="7578029" y="1919312"/>
            <a:ext cx="2252472" cy="376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SubtleCrypto API (SHA-256)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256-bit Perceptual dHash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Web Workers (off-thread)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Canvas-based ELA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HuggingFace ML (ViT, ResNet)</a:t>
            </a:r>
          </a:p>
          <a:p>
            <a:pPr algn="l">
              <a:buChar char="▶"/>
            </a:pPr>
            <a:r>
              <a:rPr lang="en-US" sz="1200" dirty="0">
                <a:solidFill>
                  <a:srgbClr val="1C2D23"/>
                </a:solidFill>
              </a:rPr>
              <a:t>7 Forensic Heuristics</a:t>
            </a:r>
          </a:p>
        </p:txBody>
      </p:sp>
      <p:sp>
        <p:nvSpPr>
          <p:cNvPr id="970" name="R970"/>
          <p:cNvSpPr/>
          <p:nvPr/>
        </p:nvSpPr>
        <p:spPr>
          <a:xfrm>
            <a:off x="2368997" y="5796368"/>
            <a:ext cx="7543800" cy="274320"/>
          </a:xfrm>
          <a:prstGeom prst="rect">
            <a:avLst/>
          </a:prstGeom>
          <a:solidFill>
            <a:srgbClr val="E5F2EA"/>
          </a:solidFill>
          <a:ln w="635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971" name="T971"/>
          <p:cNvSpPr txBox="1"/>
          <p:nvPr/>
        </p:nvSpPr>
        <p:spPr>
          <a:xfrm>
            <a:off x="2478725" y="5796368"/>
            <a:ext cx="7379208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i="1" dirty="0">
                <a:solidFill>
                  <a:srgbClr val="1A5C3A"/>
                </a:solidFill>
              </a:rPr>
              <a:t>Smart Contract: 0x37FCD33D5FF07cfa3A75D27B4ec4cF09e458dfac  (Ethereum Sepolia)</a:t>
            </a:r>
          </a:p>
        </p:txBody>
      </p:sp>
    </p:spTree>
    <p:extLst>
      <p:ext uri="{BB962C8B-B14F-4D97-AF65-F5344CB8AC3E}">
        <p14:creationId xmlns:p14="http://schemas.microsoft.com/office/powerpoint/2010/main" val="2112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2F5-6D7D-4227-85D7-16B67B05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00E9-734C-CAA0-17FE-1768935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2EA4-B1F6-34D3-5626-416BFEC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3CC82AE6-9D2A-2D88-F491-8203880CC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65C8CE-28F6-0C6B-338C-C3B5B298F9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49D56B7-D53C-011E-2F3F-D5AD326BEFE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7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E64D2BE9-CE4D-7481-3EE6-3ABA5F7F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D1D958-30C5-BFBB-4704-8AA5760A3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8B59F7-E15D-2790-BD01-92549C8BD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C28E2-5885-1FB9-C717-8250B26F451A}"/>
              </a:ext>
            </a:extLst>
          </p:cNvPr>
          <p:cNvSpPr txBox="1"/>
          <p:nvPr/>
        </p:nvSpPr>
        <p:spPr>
          <a:xfrm>
            <a:off x="3436884" y="367607"/>
            <a:ext cx="4885984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Features &amp; Functionalities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18811A-4F8E-2836-EF90-7221277E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E2B4672F-F1C3-2CFE-B3D1-6509F2ED9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CC37C06D-DFF9-BC83-B432-49605D4FF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5CA88AC1-9155-569A-E5BF-6E8E1C824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7AA4055F-FF3F-644A-E624-DD0C52567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58A6E750-84CF-ABE6-EFC6-FB0465DF5B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75C741BE-C4AB-E613-A2EB-9F3D7D425B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57456-7DB2-D9E0-3DC1-538B620C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6ADB1A64-E449-E424-9C0D-1AF876BDF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52BB634-DB1D-6842-4281-027496EA2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BBD6908A-5E17-7977-6487-318FB3DA3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01A557D7-B7C4-85B2-1FB2-6EA25187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F93DC9F-B0C2-003C-927D-41C7D7DB0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1000" name="T1000"/>
          <p:cNvSpPr txBox="1"/>
          <p:nvPr/>
        </p:nvSpPr>
        <p:spPr>
          <a:xfrm>
            <a:off x="2537948" y="995768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Attestr Can Do</a:t>
            </a:r>
          </a:p>
        </p:txBody>
      </p:sp>
      <p:sp>
        <p:nvSpPr>
          <p:cNvPr id="1010" name="R1010"/>
          <p:cNvSpPr/>
          <p:nvPr/>
        </p:nvSpPr>
        <p:spPr>
          <a:xfrm>
            <a:off x="2537948" y="1425536"/>
            <a:ext cx="3707892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011" name="R1011"/>
          <p:cNvSpPr/>
          <p:nvPr/>
        </p:nvSpPr>
        <p:spPr>
          <a:xfrm>
            <a:off x="2537948" y="1425536"/>
            <a:ext cx="59436" cy="4169664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12" name="T1012"/>
          <p:cNvSpPr txBox="1"/>
          <p:nvPr/>
        </p:nvSpPr>
        <p:spPr>
          <a:xfrm>
            <a:off x="2656820" y="1489544"/>
            <a:ext cx="354330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Core &amp; Forensics</a:t>
            </a:r>
          </a:p>
        </p:txBody>
      </p:sp>
      <p:sp>
        <p:nvSpPr>
          <p:cNvPr id="1013" name="M1013"/>
          <p:cNvSpPr txBox="1"/>
          <p:nvPr/>
        </p:nvSpPr>
        <p:spPr>
          <a:xfrm>
            <a:off x="2656820" y="1837016"/>
            <a:ext cx="3515868" cy="3666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Client-side SHA-256 + 256-bit perceptual hashing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Ethereum registration with Etherscan receipts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Instant verification — exact + fuzzy matching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Pre-registration duplicate detection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Error Level Analysis (ELA) — adjustable 1×–30×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EXIF metadata extraction + anomaly flagging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AI detection: ML (ViT, ResNet) + 7 heuristic signals</a:t>
            </a:r>
          </a:p>
        </p:txBody>
      </p:sp>
      <p:sp>
        <p:nvSpPr>
          <p:cNvPr id="1030" name="R1030"/>
          <p:cNvSpPr/>
          <p:nvPr/>
        </p:nvSpPr>
        <p:spPr>
          <a:xfrm>
            <a:off x="6373856" y="1425536"/>
            <a:ext cx="3707892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031" name="R1031"/>
          <p:cNvSpPr/>
          <p:nvPr/>
        </p:nvSpPr>
        <p:spPr>
          <a:xfrm>
            <a:off x="6373856" y="1425536"/>
            <a:ext cx="59436" cy="41696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32" name="T1032"/>
          <p:cNvSpPr txBox="1"/>
          <p:nvPr/>
        </p:nvSpPr>
        <p:spPr>
          <a:xfrm>
            <a:off x="6492728" y="1489544"/>
            <a:ext cx="3543300" cy="32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1A5C3A"/>
                </a:solidFill>
              </a:rPr>
              <a:t>Platform &amp; Integrations</a:t>
            </a:r>
          </a:p>
        </p:txBody>
      </p:sp>
      <p:sp>
        <p:nvSpPr>
          <p:cNvPr id="1033" name="M1033"/>
          <p:cNvSpPr txBox="1"/>
          <p:nvPr/>
        </p:nvSpPr>
        <p:spPr>
          <a:xfrm>
            <a:off x="6492728" y="1837016"/>
            <a:ext cx="3515868" cy="3666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Google OAuth authentication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My Media dashboard (personal history)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Public Activity feed (anonymized)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Interactive API docs with live "Try it"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Chrome extension — right-click to verify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Desktop agent — watched folder auto-register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Separate desktop + mobile UIs; 3D visualizations</a:t>
            </a:r>
          </a:p>
        </p:txBody>
      </p:sp>
      <p:sp>
        <p:nvSpPr>
          <p:cNvPr id="1050" name="R1050"/>
          <p:cNvSpPr/>
          <p:nvPr/>
        </p:nvSpPr>
        <p:spPr>
          <a:xfrm>
            <a:off x="2537948" y="5668352"/>
            <a:ext cx="7543800" cy="402336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051" name="T1051"/>
          <p:cNvSpPr txBox="1"/>
          <p:nvPr/>
        </p:nvSpPr>
        <p:spPr>
          <a:xfrm>
            <a:off x="2537948" y="5668352"/>
            <a:ext cx="7543800" cy="4023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150" b="1" dirty="0">
                <a:solidFill>
                  <a:srgbClr val="FFFFFF"/>
                </a:solidFill>
              </a:rPr>
              <a:t>🌐  Live: https://attestr-app.vercel.app  —  Everything above is deployed &amp; fully functional</a:t>
            </a:r>
          </a:p>
        </p:txBody>
      </p:sp>
    </p:spTree>
    <p:extLst>
      <p:ext uri="{BB962C8B-B14F-4D97-AF65-F5344CB8AC3E}">
        <p14:creationId xmlns:p14="http://schemas.microsoft.com/office/powerpoint/2010/main" val="282943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8961-0E57-6CF4-6A2E-6E3844CE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F5FA-4F07-3415-25E3-C29F21E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901C-CFCA-5956-3989-DB48B37B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808F960A-289C-591A-BEEA-F0564F0CC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7CB260-476E-D58E-6C85-22C5CE0DCD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Statement</a:t>
            </a:r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CA2909C-E433-498A-659E-70C518245CC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043BD-A6AE-4C1D-A00A-77B429796457}" type="slidenum">
              <a:rPr lang="en-IN" smtClean="0"/>
              <a:pPr/>
              <a:t>8</a:t>
            </a:fld>
            <a:r>
              <a:rPr lang="en-IN"/>
              <a:t> W</a:t>
            </a:r>
            <a:endParaRPr lang="en-IN" dirty="0"/>
          </a:p>
        </p:txBody>
      </p:sp>
      <p:pic>
        <p:nvPicPr>
          <p:cNvPr id="7" name="Picture 2" descr="Sharda University Logo &amp; Brand Assets (SVG, PNG and vector ...">
            <a:extLst>
              <a:ext uri="{FF2B5EF4-FFF2-40B4-BE49-F238E27FC236}">
                <a16:creationId xmlns:a16="http://schemas.microsoft.com/office/drawing/2014/main" id="{42675280-1BA9-C78D-15BD-C603CC170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8" b="28737"/>
          <a:stretch>
            <a:fillRect/>
          </a:stretch>
        </p:blipFill>
        <p:spPr bwMode="auto">
          <a:xfrm>
            <a:off x="10248900" y="0"/>
            <a:ext cx="1943100" cy="8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0B5CAE-859F-2E56-77C1-EEF4164D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2D47E-A735-DAB0-DB53-2B7823EA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126AD-F670-1E1A-0DD5-7E5F8DE779B0}"/>
              </a:ext>
            </a:extLst>
          </p:cNvPr>
          <p:cNvSpPr txBox="1"/>
          <p:nvPr/>
        </p:nvSpPr>
        <p:spPr>
          <a:xfrm>
            <a:off x="3436883" y="367607"/>
            <a:ext cx="5776065" cy="4336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dirty="0"/>
              <a:t>Implementation Plan / Roadmap</a:t>
            </a:r>
            <a:endParaRPr lang="en-US" sz="3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8DE12-9223-0B45-7844-C8442188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C6B389A5-57A1-5BDD-19D5-935489A75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D47C928B-E00F-1E52-C717-07A5AAF02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7CA94AD0-2C13-149F-27C4-C1BF48D92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1292ABA-6799-0521-BC93-F47A7A145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-up of a logo  AI-generated content may be incorrect.">
            <a:extLst>
              <a:ext uri="{FF2B5EF4-FFF2-40B4-BE49-F238E27FC236}">
                <a16:creationId xmlns:a16="http://schemas.microsoft.com/office/drawing/2014/main" id="{52C4D73F-1345-3CA9-C6C5-8928CA105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6788EA6-29B6-4A1B-6379-A0B95808548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4AE98E-B324-7FD5-5724-C47113E8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93A260AE-0C5C-4CC3-70C4-9D528AE9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F824AC28-C4B1-F6B1-6402-A3E6B78AF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1E9727E5-F04D-5242-381E-4D642EBCF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E7132A91-975B-8373-609C-1F7963E8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A hands holding a light bulb  AI-generated content may be incorrect.">
            <a:extLst>
              <a:ext uri="{FF2B5EF4-FFF2-40B4-BE49-F238E27FC236}">
                <a16:creationId xmlns:a16="http://schemas.microsoft.com/office/drawing/2014/main" id="{62CCCF5C-DE08-D2D7-6A05-49C3680CB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1100" name="T1100"/>
          <p:cNvSpPr txBox="1"/>
          <p:nvPr/>
        </p:nvSpPr>
        <p:spPr>
          <a:xfrm>
            <a:off x="3977640" y="960120"/>
            <a:ext cx="7543800" cy="365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dirty="0">
                <a:solidFill>
                  <a:srgbClr val="1A5C3A"/>
                </a:solidFill>
              </a:rPr>
              <a:t>What We've Built &amp; What's Next</a:t>
            </a:r>
          </a:p>
        </p:txBody>
      </p:sp>
      <p:sp>
        <p:nvSpPr>
          <p:cNvPr id="1110" name="R1110"/>
          <p:cNvSpPr/>
          <p:nvPr/>
        </p:nvSpPr>
        <p:spPr>
          <a:xfrm>
            <a:off x="2632304" y="1419886"/>
            <a:ext cx="1554480" cy="274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1" name="T1111"/>
          <p:cNvSpPr txBox="1"/>
          <p:nvPr/>
        </p:nvSpPr>
        <p:spPr>
          <a:xfrm>
            <a:off x="2632304" y="1419886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✓  COMPLETE</a:t>
            </a:r>
          </a:p>
        </p:txBody>
      </p:sp>
      <p:sp>
        <p:nvSpPr>
          <p:cNvPr id="1112" name="R1112"/>
          <p:cNvSpPr/>
          <p:nvPr/>
        </p:nvSpPr>
        <p:spPr>
          <a:xfrm>
            <a:off x="2632304" y="1730782"/>
            <a:ext cx="7543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3" name="R1113"/>
          <p:cNvSpPr/>
          <p:nvPr/>
        </p:nvSpPr>
        <p:spPr>
          <a:xfrm>
            <a:off x="2632304" y="1730782"/>
            <a:ext cx="50292" cy="1417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14" name="M1114"/>
          <p:cNvSpPr txBox="1"/>
          <p:nvPr/>
        </p:nvSpPr>
        <p:spPr>
          <a:xfrm>
            <a:off x="2787752" y="1785646"/>
            <a:ext cx="7324344" cy="13075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Core blockchain engine, client-side hashing (Workers, SubtleCrypto, dHash)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Register &amp; Verify with duplicate detection; Ethereum Sepolia smart contract deployed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Forensic suite (ELA, EXIF, AI detection); Firebase auth + mobile UI + 3D visualizations</a:t>
            </a:r>
          </a:p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Public API + Chrome extension + Desktop agent; Vercel production deployment</a:t>
            </a:r>
          </a:p>
        </p:txBody>
      </p:sp>
      <p:sp>
        <p:nvSpPr>
          <p:cNvPr id="1130" name="R1130"/>
          <p:cNvSpPr/>
          <p:nvPr/>
        </p:nvSpPr>
        <p:spPr>
          <a:xfrm>
            <a:off x="2632304" y="3294406"/>
            <a:ext cx="1554480" cy="2743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1" name="T1131"/>
          <p:cNvSpPr txBox="1"/>
          <p:nvPr/>
        </p:nvSpPr>
        <p:spPr>
          <a:xfrm>
            <a:off x="2632304" y="3294406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→  UPCOMING</a:t>
            </a:r>
          </a:p>
        </p:txBody>
      </p:sp>
      <p:sp>
        <p:nvSpPr>
          <p:cNvPr id="1132" name="R1132"/>
          <p:cNvSpPr/>
          <p:nvPr/>
        </p:nvSpPr>
        <p:spPr>
          <a:xfrm>
            <a:off x="2632304" y="3605302"/>
            <a:ext cx="7543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3" name="R1133"/>
          <p:cNvSpPr/>
          <p:nvPr/>
        </p:nvSpPr>
        <p:spPr>
          <a:xfrm>
            <a:off x="2632304" y="3605302"/>
            <a:ext cx="50292" cy="7132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34" name="M1134"/>
          <p:cNvSpPr txBox="1"/>
          <p:nvPr/>
        </p:nvSpPr>
        <p:spPr>
          <a:xfrm>
            <a:off x="2787752" y="3660166"/>
            <a:ext cx="7324344" cy="603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Polygon mainnet ($0.001/registration); Custom-trained AI detection model; Device fingerprinting + GPS anchoring</a:t>
            </a:r>
          </a:p>
        </p:txBody>
      </p:sp>
      <p:sp>
        <p:nvSpPr>
          <p:cNvPr id="1150" name="R1150"/>
          <p:cNvSpPr/>
          <p:nvPr/>
        </p:nvSpPr>
        <p:spPr>
          <a:xfrm>
            <a:off x="2632304" y="4464838"/>
            <a:ext cx="155448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1" name="T1151"/>
          <p:cNvSpPr txBox="1"/>
          <p:nvPr/>
        </p:nvSpPr>
        <p:spPr>
          <a:xfrm>
            <a:off x="2632304" y="4464838"/>
            <a:ext cx="1554480" cy="274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○  PLANNED</a:t>
            </a:r>
          </a:p>
        </p:txBody>
      </p:sp>
      <p:sp>
        <p:nvSpPr>
          <p:cNvPr id="1152" name="R1152"/>
          <p:cNvSpPr/>
          <p:nvPr/>
        </p:nvSpPr>
        <p:spPr>
          <a:xfrm>
            <a:off x="2632304" y="4775734"/>
            <a:ext cx="7543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C4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3" name="R1153"/>
          <p:cNvSpPr/>
          <p:nvPr/>
        </p:nvSpPr>
        <p:spPr>
          <a:xfrm>
            <a:off x="2632304" y="4775734"/>
            <a:ext cx="50292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1154" name="M1154"/>
          <p:cNvSpPr txBox="1"/>
          <p:nvPr/>
        </p:nvSpPr>
        <p:spPr>
          <a:xfrm>
            <a:off x="2787752" y="4830598"/>
            <a:ext cx="7324344" cy="603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Char char="▶"/>
            </a:pPr>
            <a:r>
              <a:rPr lang="en-US" sz="1150" dirty="0">
                <a:solidFill>
                  <a:srgbClr val="1C2D23"/>
                </a:solidFill>
              </a:rPr>
              <a:t>Verified org accounts; CMS plugins (WordPress, Drupal); Mobile capture app (iOS/Android); Web monitoring</a:t>
            </a:r>
          </a:p>
        </p:txBody>
      </p:sp>
      <p:sp>
        <p:nvSpPr>
          <p:cNvPr id="1170" name="R1170"/>
          <p:cNvSpPr/>
          <p:nvPr/>
        </p:nvSpPr>
        <p:spPr>
          <a:xfrm>
            <a:off x="2632304" y="5635270"/>
            <a:ext cx="7543800" cy="420624"/>
          </a:xfrm>
          <a:prstGeom prst="rect">
            <a:avLst/>
          </a:prstGeom>
          <a:solidFill>
            <a:srgbClr val="E5F2EA"/>
          </a:solidFill>
          <a:ln w="6350">
            <a:solidFill>
              <a:srgbClr val="4CAF7D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1171" name="T1171"/>
          <p:cNvSpPr txBox="1"/>
          <p:nvPr/>
        </p:nvSpPr>
        <p:spPr>
          <a:xfrm>
            <a:off x="2742032" y="5635270"/>
            <a:ext cx="7379208" cy="4206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020" i="1" dirty="0">
                <a:solidFill>
                  <a:srgbClr val="1A5C3A"/>
                </a:solidFill>
              </a:rPr>
              <a:t>Website: attestr-app.vercel.app   |   Etherscan: sepolia.etherscan.io/address/0x37FCD...dfac</a:t>
            </a:r>
          </a:p>
        </p:txBody>
      </p:sp>
    </p:spTree>
    <p:extLst>
      <p:ext uri="{BB962C8B-B14F-4D97-AF65-F5344CB8AC3E}">
        <p14:creationId xmlns:p14="http://schemas.microsoft.com/office/powerpoint/2010/main" val="112258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Attestr — Proving integrity in the age of deepfakes.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close-up of a logo  AI-generated content may be incorrect.">
            <a:extLst>
              <a:ext uri="{FF2B5EF4-FFF2-40B4-BE49-F238E27FC236}">
                <a16:creationId xmlns:a16="http://schemas.microsoft.com/office/drawing/2014/main" id="{472C507D-9272-1AE0-5DF9-F12A9CB20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540" y="193425"/>
            <a:ext cx="2140851" cy="813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C8108A-C924-47FE-071A-B6C1E0E3B382}"/>
              </a:ext>
            </a:extLst>
          </p:cNvPr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US" dirty="0"/>
              <a:t>Thank You — Team Ctrl+Alt+Diablo</a:t>
            </a:r>
          </a:p>
          <a:p>
            <a:pPr algn="ctr"/>
            <a:r>
              <a:rPr lang="en-US" dirty="0"/>
              <a:t>CSBC114  ·  Cybersecurity &amp; Blockchain  ·  Panel 6  ·  Sharda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E043BD-A6AE-4C1D-A00A-77B42979645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hands holding a light bulb  AI-generated content may be incorrect.">
            <a:extLst>
              <a:ext uri="{FF2B5EF4-FFF2-40B4-BE49-F238E27FC236}">
                <a16:creationId xmlns:a16="http://schemas.microsoft.com/office/drawing/2014/main" id="{3156E695-F4ED-A550-9B6B-36EEB0848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9" y="296223"/>
            <a:ext cx="9398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0F3D4-715A-9B70-76F8-0B1A410BD936}"/>
              </a:ext>
            </a:extLst>
          </p:cNvPr>
          <p:cNvSpPr txBox="1"/>
          <p:nvPr/>
        </p:nvSpPr>
        <p:spPr>
          <a:xfrm>
            <a:off x="1381321" y="368038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A5C3A"/>
                </a:solidFill>
              </a:rPr>
              <a:t>Yash Gadia  |  Sweta Kumari  |  Priyanshi Shrotriya  |  Shreyansh Khemka</a:t>
            </a:r>
          </a:p>
          <a:p>
            <a:pPr algn="l">
              <a:spcAft>
                <a:spcPts val="120"/>
              </a:spcAft>
            </a:pPr>
            <a:r>
              <a:rPr lang="en-US" sz="1300" i="1" dirty="0">
                <a:solidFill>
                  <a:srgbClr val="028090"/>
                </a:solidFill>
              </a:rPr>
              <a:t>https://attestr-app.vercel.app</a:t>
            </a:r>
          </a:p>
        </p:txBody>
      </p: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852</Words>
  <Application>Microsoft Macintosh PowerPoint</Application>
  <PresentationFormat>Widescreen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Problem Statement</vt:lpstr>
      <vt:lpstr>Proposed Solution / Idea</vt:lpstr>
      <vt:lpstr>Proposed Solution / Idea</vt:lpstr>
      <vt:lpstr>Proposed Solution / Idea</vt:lpstr>
      <vt:lpstr>Proposed Solution / Idea</vt:lpstr>
      <vt:lpstr>Proposed Solution / Idea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Yash Gadia</cp:lastModifiedBy>
  <cp:revision>5</cp:revision>
  <cp:lastPrinted>2026-03-17T10:23:45Z</cp:lastPrinted>
  <dcterms:created xsi:type="dcterms:W3CDTF">2025-09-03T04:31:11Z</dcterms:created>
  <dcterms:modified xsi:type="dcterms:W3CDTF">2026-03-17T10:24:03Z</dcterms:modified>
</cp:coreProperties>
</file>